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7" r:id="rId8"/>
    <p:sldId id="262" r:id="rId9"/>
    <p:sldId id="263" r:id="rId10"/>
    <p:sldId id="264" r:id="rId11"/>
    <p:sldId id="268" r:id="rId12"/>
    <p:sldId id="265" r:id="rId13"/>
    <p:sldId id="266" r:id="rId14"/>
    <p:sldId id="269" r:id="rId15"/>
    <p:sldId id="270" r:id="rId16"/>
    <p:sldId id="271" r:id="rId17"/>
    <p:sldId id="272" r:id="rId18"/>
    <p:sldId id="273" r:id="rId19"/>
    <p:sldId id="274" r:id="rId20"/>
    <p:sldId id="275" r:id="rId21"/>
    <p:sldId id="276" r:id="rId22"/>
    <p:sldId id="277" r:id="rId23"/>
    <p:sldId id="304" r:id="rId24"/>
    <p:sldId id="278" r:id="rId25"/>
    <p:sldId id="279" r:id="rId26"/>
    <p:sldId id="281" r:id="rId27"/>
    <p:sldId id="280" r:id="rId28"/>
    <p:sldId id="282" r:id="rId29"/>
    <p:sldId id="305" r:id="rId30"/>
    <p:sldId id="306" r:id="rId31"/>
    <p:sldId id="307" r:id="rId32"/>
    <p:sldId id="287" r:id="rId33"/>
    <p:sldId id="288" r:id="rId34"/>
    <p:sldId id="289" r:id="rId35"/>
    <p:sldId id="290" r:id="rId36"/>
    <p:sldId id="291" r:id="rId37"/>
    <p:sldId id="292" r:id="rId38"/>
    <p:sldId id="308" r:id="rId39"/>
    <p:sldId id="293" r:id="rId40"/>
    <p:sldId id="309" r:id="rId41"/>
    <p:sldId id="310" r:id="rId42"/>
    <p:sldId id="311" r:id="rId43"/>
    <p:sldId id="312" r:id="rId44"/>
    <p:sldId id="313" r:id="rId45"/>
    <p:sldId id="314" r:id="rId46"/>
    <p:sldId id="315" r:id="rId47"/>
    <p:sldId id="316" r:id="rId48"/>
    <p:sldId id="317" r:id="rId49"/>
    <p:sldId id="319" r:id="rId50"/>
    <p:sldId id="294" r:id="rId51"/>
    <p:sldId id="295" r:id="rId52"/>
    <p:sldId id="298" r:id="rId53"/>
    <p:sldId id="300" r:id="rId54"/>
    <p:sldId id="302" r:id="rId55"/>
    <p:sldId id="301" r:id="rId56"/>
    <p:sldId id="296" r:id="rId57"/>
    <p:sldId id="297" r:id="rId58"/>
    <p:sldId id="318" r:id="rId59"/>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E8856FB-0034-4337-BB64-C79F355AA769}">
          <p14:sldIdLst>
            <p14:sldId id="256"/>
            <p14:sldId id="257"/>
            <p14:sldId id="258"/>
            <p14:sldId id="259"/>
            <p14:sldId id="260"/>
            <p14:sldId id="261"/>
            <p14:sldId id="267"/>
            <p14:sldId id="262"/>
            <p14:sldId id="263"/>
            <p14:sldId id="264"/>
            <p14:sldId id="268"/>
            <p14:sldId id="265"/>
            <p14:sldId id="266"/>
            <p14:sldId id="269"/>
            <p14:sldId id="270"/>
            <p14:sldId id="271"/>
            <p14:sldId id="272"/>
            <p14:sldId id="273"/>
            <p14:sldId id="274"/>
            <p14:sldId id="275"/>
            <p14:sldId id="276"/>
            <p14:sldId id="277"/>
            <p14:sldId id="304"/>
            <p14:sldId id="278"/>
            <p14:sldId id="279"/>
            <p14:sldId id="281"/>
            <p14:sldId id="280"/>
            <p14:sldId id="282"/>
            <p14:sldId id="305"/>
            <p14:sldId id="306"/>
            <p14:sldId id="307"/>
            <p14:sldId id="287"/>
            <p14:sldId id="288"/>
          </p14:sldIdLst>
        </p14:section>
        <p14:section name="Sección sin título" id="{3B3ABA3C-DACC-4846-8145-A5680BBDB034}">
          <p14:sldIdLst>
            <p14:sldId id="289"/>
            <p14:sldId id="290"/>
            <p14:sldId id="291"/>
            <p14:sldId id="292"/>
            <p14:sldId id="308"/>
            <p14:sldId id="293"/>
            <p14:sldId id="309"/>
            <p14:sldId id="310"/>
            <p14:sldId id="311"/>
            <p14:sldId id="312"/>
            <p14:sldId id="313"/>
            <p14:sldId id="314"/>
            <p14:sldId id="315"/>
            <p14:sldId id="316"/>
            <p14:sldId id="317"/>
            <p14:sldId id="319"/>
            <p14:sldId id="294"/>
            <p14:sldId id="295"/>
            <p14:sldId id="298"/>
            <p14:sldId id="300"/>
            <p14:sldId id="302"/>
            <p14:sldId id="301"/>
            <p14:sldId id="296"/>
            <p14:sldId id="297"/>
            <p14:sldId id="31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706"/>
    <a:srgbClr val="8BF4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94565"/>
  </p:normalViewPr>
  <p:slideViewPr>
    <p:cSldViewPr>
      <p:cViewPr varScale="1">
        <p:scale>
          <a:sx n="105" d="100"/>
          <a:sy n="105" d="100"/>
        </p:scale>
        <p:origin x="1856"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Subtítulo"/>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17" name="16 Marcador de pie de página"/>
          <p:cNvSpPr>
            <a:spLocks noGrp="1"/>
          </p:cNvSpPr>
          <p:nvPr>
            <p:ph type="ftr" sz="quarter" idx="11"/>
          </p:nvPr>
        </p:nvSpPr>
        <p:spPr/>
        <p:txBody>
          <a:bodyPr/>
          <a:lstStyle/>
          <a:p>
            <a:endParaRPr lang="es-MX"/>
          </a:p>
        </p:txBody>
      </p:sp>
      <p:sp>
        <p:nvSpPr>
          <p:cNvPr id="7" name="6 Conector recto"/>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12 Elipse"/>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Elipse"/>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28 Marcador de número de diapositiva"/>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0CA6277F-52BA-4BBF-AC8C-3224377DB8D7}" type="slidenum">
              <a:rPr lang="es-MX" smtClean="0"/>
              <a:t>‹Nº›</a:t>
            </a:fld>
            <a:endParaRPr lang="es-MX"/>
          </a:p>
        </p:txBody>
      </p:sp>
      <p:sp>
        <p:nvSpPr>
          <p:cNvPr id="8" name="7 Título"/>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solidFill>
                  <a:schemeClr val="accent3">
                    <a:shade val="75000"/>
                  </a:schemeClr>
                </a:solidFill>
              </a:defRPr>
            </a:lvl1p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a:xfrm>
            <a:off x="4361688" y="1026372"/>
            <a:ext cx="457200" cy="441325"/>
          </a:xfrm>
        </p:spPr>
        <p:txBody>
          <a:bodyPr/>
          <a:lstStyle/>
          <a:p>
            <a:fld id="{0CA6277F-52BA-4BBF-AC8C-3224377DB8D7}" type="slidenum">
              <a:rPr lang="es-MX" smtClean="0"/>
              <a:t>‹Nº›</a:t>
            </a:fld>
            <a:endParaRPr lang="es-MX"/>
          </a:p>
        </p:txBody>
      </p:sp>
      <p:sp>
        <p:nvSpPr>
          <p:cNvPr id="8" name="7 Marcador de contenido"/>
          <p:cNvSpPr>
            <a:spLocks noGrp="1"/>
          </p:cNvSpPr>
          <p:nvPr>
            <p:ph sz="quarter" idx="1"/>
          </p:nvPr>
        </p:nvSpPr>
        <p:spPr>
          <a:xfrm>
            <a:off x="301752" y="1527048"/>
            <a:ext cx="8503920" cy="4572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2 Marcador de texto"/>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13" name="12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13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4 Marcador de pie de página"/>
          <p:cNvSpPr>
            <a:spLocks noGrp="1"/>
          </p:cNvSpPr>
          <p:nvPr>
            <p:ph type="ftr" sz="quarter" idx="11"/>
          </p:nvPr>
        </p:nvSpPr>
        <p:spPr/>
        <p:txBody>
          <a:bodyPr/>
          <a:lstStyle/>
          <a:p>
            <a:endParaRPr lang="es-MX"/>
          </a:p>
        </p:txBody>
      </p:sp>
      <p:sp>
        <p:nvSpPr>
          <p:cNvPr id="4" name="3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8" name="7 Conector recto"/>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Elipse"/>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Elipse"/>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0CA6277F-52BA-4BBF-AC8C-3224377DB8D7}" type="slidenum">
              <a:rPr lang="es-MX" smtClean="0"/>
              <a:t>‹Nº›</a:t>
            </a:fld>
            <a:endParaRPr lang="es-MX"/>
          </a:p>
        </p:txBody>
      </p:sp>
      <p:sp>
        <p:nvSpPr>
          <p:cNvPr id="2" name="1 Título"/>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301752" y="228600"/>
            <a:ext cx="8534400" cy="758952"/>
          </a:xfrm>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a:xfrm>
            <a:off x="5791200" y="6409944"/>
            <a:ext cx="3044952" cy="365760"/>
          </a:xfrm>
        </p:spPr>
        <p:txBody>
          <a:bodyPr/>
          <a:lstStyle/>
          <a:p>
            <a:fld id="{7163DA3B-2784-4CAF-8FCA-D2487AFBAC7C}" type="datetimeFigureOut">
              <a:rPr lang="es-MX" smtClean="0"/>
              <a:t>21/02/22</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0CA6277F-52BA-4BBF-AC8C-3224377DB8D7}" type="slidenum">
              <a:rPr lang="es-MX" smtClean="0"/>
              <a:t>‹Nº›</a:t>
            </a:fld>
            <a:endParaRPr lang="es-MX"/>
          </a:p>
        </p:txBody>
      </p:sp>
      <p:sp>
        <p:nvSpPr>
          <p:cNvPr id="8" name="7 Conector recto"/>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Marcador de contenido"/>
          <p:cNvSpPr>
            <a:spLocks noGrp="1"/>
          </p:cNvSpPr>
          <p:nvPr>
            <p:ph sz="half" idx="1"/>
          </p:nvPr>
        </p:nvSpPr>
        <p:spPr>
          <a:xfrm>
            <a:off x="301752" y="1371600"/>
            <a:ext cx="4038600" cy="4681728"/>
          </a:xfrm>
        </p:spPr>
        <p:txBody>
          <a:bodyPr/>
          <a:lstStyle>
            <a:lvl1pPr>
              <a:defRPr sz="2500"/>
            </a:lvl1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2" name="11 Marcador de contenido"/>
          <p:cNvSpPr>
            <a:spLocks noGrp="1"/>
          </p:cNvSpPr>
          <p:nvPr>
            <p:ph sz="half" idx="2"/>
          </p:nvPr>
        </p:nvSpPr>
        <p:spPr>
          <a:xfrm>
            <a:off x="4800600" y="1371600"/>
            <a:ext cx="4038600" cy="4681728"/>
          </a:xfrm>
        </p:spPr>
        <p:txBody>
          <a:bodyPr/>
          <a:lstStyle>
            <a:lvl1pPr>
              <a:defRPr sz="2500"/>
            </a:lvl1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1">
        <a:schemeClr val="bg2"/>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19 Rectángulo"/>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20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21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10 Rectángulo"/>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2 Marcador de texto"/>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8" name="7 Marcador de pie de página"/>
          <p:cNvSpPr>
            <a:spLocks noGrp="1"/>
          </p:cNvSpPr>
          <p:nvPr>
            <p:ph type="ftr" sz="quarter" idx="11"/>
          </p:nvPr>
        </p:nvSpPr>
        <p:spPr>
          <a:xfrm>
            <a:off x="304800" y="6409944"/>
            <a:ext cx="3581400" cy="365760"/>
          </a:xfrm>
        </p:spPr>
        <p:txBody>
          <a:bodyPr/>
          <a:lstStyle/>
          <a:p>
            <a:endParaRPr lang="es-MX"/>
          </a:p>
        </p:txBody>
      </p:sp>
      <p:sp>
        <p:nvSpPr>
          <p:cNvPr id="15" name="14 Conector recto"/>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23 Marcador de contenido"/>
          <p:cNvSpPr>
            <a:spLocks noGrp="1"/>
          </p:cNvSpPr>
          <p:nvPr>
            <p:ph sz="quarter" idx="2"/>
          </p:nvPr>
        </p:nvSpPr>
        <p:spPr>
          <a:xfrm>
            <a:off x="301752" y="2471383"/>
            <a:ext cx="4041648" cy="3818404"/>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26" name="25 Marcador de contenido"/>
          <p:cNvSpPr>
            <a:spLocks noGrp="1"/>
          </p:cNvSpPr>
          <p:nvPr>
            <p:ph sz="quarter" idx="4"/>
          </p:nvPr>
        </p:nvSpPr>
        <p:spPr>
          <a:xfrm>
            <a:off x="4800600" y="2471383"/>
            <a:ext cx="4038600" cy="3822192"/>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25" name="24 Elipse"/>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26 Elipse"/>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Marcador de número de diapositiva"/>
          <p:cNvSpPr>
            <a:spLocks noGrp="1"/>
          </p:cNvSpPr>
          <p:nvPr>
            <p:ph type="sldNum" sz="quarter" idx="12"/>
          </p:nvPr>
        </p:nvSpPr>
        <p:spPr>
          <a:xfrm>
            <a:off x="4343400" y="1042416"/>
            <a:ext cx="457200" cy="441325"/>
          </a:xfrm>
        </p:spPr>
        <p:txBody>
          <a:bodyPr/>
          <a:lstStyle>
            <a:lvl1pPr algn="ctr">
              <a:defRPr/>
            </a:lvl1pPr>
          </a:lstStyle>
          <a:p>
            <a:fld id="{0CA6277F-52BA-4BBF-AC8C-3224377DB8D7}" type="slidenum">
              <a:rPr lang="es-MX" smtClean="0"/>
              <a:t>‹Nº›</a:t>
            </a:fld>
            <a:endParaRPr lang="es-MX"/>
          </a:p>
        </p:txBody>
      </p:sp>
      <p:sp>
        <p:nvSpPr>
          <p:cNvPr id="23" name="22 Título"/>
          <p:cNvSpPr>
            <a:spLocks noGrp="1"/>
          </p:cNvSpPr>
          <p:nvPr>
            <p:ph type="title"/>
          </p:nvPr>
        </p:nvSpPr>
        <p:spPr/>
        <p:txBody>
          <a:bodyPr rtlCol="0" anchor="b" anchorCtr="0"/>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4" name="3 Marcador de pie de página"/>
          <p:cNvSpPr>
            <a:spLocks noGrp="1"/>
          </p:cNvSpPr>
          <p:nvPr>
            <p:ph type="ftr" sz="quarter" idx="11"/>
          </p:nvPr>
        </p:nvSpPr>
        <p:spPr/>
        <p:txBody>
          <a:bodyPr/>
          <a:lstStyle/>
          <a:p>
            <a:endParaRPr lang="es-MX"/>
          </a:p>
        </p:txBody>
      </p:sp>
      <p:sp>
        <p:nvSpPr>
          <p:cNvPr id="5" name="4 Marcador de número de diapositiva"/>
          <p:cNvSpPr>
            <a:spLocks noGrp="1"/>
          </p:cNvSpPr>
          <p:nvPr>
            <p:ph type="sldNum" sz="quarter" idx="12"/>
          </p:nvPr>
        </p:nvSpPr>
        <p:spPr>
          <a:xfrm>
            <a:off x="4343400" y="1036020"/>
            <a:ext cx="457200" cy="441325"/>
          </a:xfrm>
        </p:spPr>
        <p:txBody>
          <a:bodyPr/>
          <a:lstStyle/>
          <a:p>
            <a:fld id="{0CA6277F-52BA-4BBF-AC8C-3224377DB8D7}" type="slidenum">
              <a:rPr lang="es-MX" smtClean="0"/>
              <a:t>‹Nº›</a:t>
            </a:fld>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5 Rectángulo"/>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1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3" name="2 Marcador de pie de página"/>
          <p:cNvSpPr>
            <a:spLocks noGrp="1"/>
          </p:cNvSpPr>
          <p:nvPr>
            <p:ph type="ftr" sz="quarter" idx="11"/>
          </p:nvPr>
        </p:nvSpPr>
        <p:spPr/>
        <p:txBody>
          <a:bodyPr/>
          <a:lstStyle/>
          <a:p>
            <a:endParaRPr lang="es-MX"/>
          </a:p>
        </p:txBody>
      </p:sp>
      <p:sp>
        <p:nvSpPr>
          <p:cNvPr id="4" name="3 Marcador de número de diapositiva"/>
          <p:cNvSpPr>
            <a:spLocks noGrp="1"/>
          </p:cNvSpPr>
          <p:nvPr>
            <p:ph type="sldNum" sz="quarter" idx="12"/>
          </p:nvPr>
        </p:nvSpPr>
        <p:spPr>
          <a:xfrm>
            <a:off x="4267200" y="6324600"/>
            <a:ext cx="609600" cy="441324"/>
          </a:xfrm>
        </p:spPr>
        <p:txBody>
          <a:bodyPr/>
          <a:lstStyle>
            <a:lvl1pPr>
              <a:defRPr>
                <a:solidFill>
                  <a:srgbClr val="FFFFFF"/>
                </a:solidFill>
              </a:defRPr>
            </a:lvl1pPr>
          </a:lstStyle>
          <a:p>
            <a:fld id="{0CA6277F-52BA-4BBF-AC8C-3224377DB8D7}" type="slidenum">
              <a:rPr lang="es-MX" smtClean="0"/>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9" name="18 Rectángulo"/>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16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12 Rectángulo"/>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8" name="7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8 Conector recto"/>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19 Marcador de contenido"/>
          <p:cNvSpPr>
            <a:spLocks noGrp="1"/>
          </p:cNvSpPr>
          <p:nvPr>
            <p:ph sz="quarter" idx="1"/>
          </p:nvPr>
        </p:nvSpPr>
        <p:spPr>
          <a:xfrm>
            <a:off x="3124200" y="685800"/>
            <a:ext cx="5638800" cy="54102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0" name="9 Elipse"/>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Elipse"/>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Marcador de número de diapositiva"/>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0CA6277F-52BA-4BBF-AC8C-3224377DB8D7}" type="slidenum">
              <a:rPr lang="es-MX" smtClean="0"/>
              <a:t>‹Nº›</a:t>
            </a:fld>
            <a:endParaRPr lang="es-MX"/>
          </a:p>
        </p:txBody>
      </p:sp>
      <p:sp>
        <p:nvSpPr>
          <p:cNvPr id="21" name="20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6" name="5 Marcador de pie de página"/>
          <p:cNvSpPr>
            <a:spLocks noGrp="1"/>
          </p:cNvSpPr>
          <p:nvPr>
            <p:ph type="ftr" sz="quarter" idx="11"/>
          </p:nvPr>
        </p:nvSpPr>
        <p:spPr>
          <a:xfrm>
            <a:off x="301752" y="6410848"/>
            <a:ext cx="3383280" cy="365760"/>
          </a:xfrm>
        </p:spPr>
        <p:txBody>
          <a:bodyPr/>
          <a:lstStyle/>
          <a:p>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1" name="20 Conector recto"/>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16 Rectángulo"/>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19 Rectángulo"/>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11 Elipse"/>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Elipse"/>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Marcador de número de diapositiva"/>
          <p:cNvSpPr>
            <a:spLocks noGrp="1"/>
          </p:cNvSpPr>
          <p:nvPr>
            <p:ph type="sldNum" sz="quarter" idx="12"/>
          </p:nvPr>
        </p:nvSpPr>
        <p:spPr>
          <a:xfrm>
            <a:off x="1371600" y="312738"/>
            <a:ext cx="457200" cy="441325"/>
          </a:xfrm>
        </p:spPr>
        <p:txBody>
          <a:bodyPr/>
          <a:lstStyle/>
          <a:p>
            <a:fld id="{0CA6277F-52BA-4BBF-AC8C-3224377DB8D7}" type="slidenum">
              <a:rPr lang="es-MX" smtClean="0"/>
              <a:t>‹Nº›</a:t>
            </a:fld>
            <a:endParaRPr lang="es-MX"/>
          </a:p>
        </p:txBody>
      </p:sp>
      <p:sp>
        <p:nvSpPr>
          <p:cNvPr id="2" name="1 Título"/>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3000375" y="609600"/>
            <a:ext cx="5867400" cy="4267200"/>
          </a:xfrm>
        </p:spPr>
        <p:txBody>
          <a:bodyPr/>
          <a:lstStyle>
            <a:lvl1pPr marL="0" indent="0">
              <a:buNone/>
              <a:defRPr sz="32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22" name="21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Marcador de fecha"/>
          <p:cNvSpPr>
            <a:spLocks noGrp="1"/>
          </p:cNvSpPr>
          <p:nvPr>
            <p:ph type="dt" sz="half" idx="10"/>
          </p:nvPr>
        </p:nvSpPr>
        <p:spPr>
          <a:xfrm>
            <a:off x="5788152" y="6404984"/>
            <a:ext cx="3044952" cy="365760"/>
          </a:xfrm>
        </p:spPr>
        <p:txBody>
          <a:bodyPr/>
          <a:lstStyle/>
          <a:p>
            <a:fld id="{7163DA3B-2784-4CAF-8FCA-D2487AFBAC7C}" type="datetimeFigureOut">
              <a:rPr lang="es-MX" smtClean="0"/>
              <a:t>21/02/22</a:t>
            </a:fld>
            <a:endParaRPr lang="es-MX"/>
          </a:p>
        </p:txBody>
      </p:sp>
      <p:sp>
        <p:nvSpPr>
          <p:cNvPr id="6" name="5 Marcador de pie de página"/>
          <p:cNvSpPr>
            <a:spLocks noGrp="1"/>
          </p:cNvSpPr>
          <p:nvPr>
            <p:ph type="ftr" sz="quarter" idx="11"/>
          </p:nvPr>
        </p:nvSpPr>
        <p:spPr>
          <a:xfrm>
            <a:off x="301752" y="6410848"/>
            <a:ext cx="3584448" cy="365760"/>
          </a:xfrm>
        </p:spPr>
        <p:txBody>
          <a:bodyPr/>
          <a:lstStyle/>
          <a:p>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0CA6277F-52BA-4BBF-AC8C-3224377DB8D7}" type="slidenum">
              <a:rPr lang="es-MX" smtClean="0"/>
              <a:t>‹Nº›</a:t>
            </a:fld>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bg>
      <p:bgRef idx="1001">
        <a:schemeClr val="bg2"/>
      </p:bgRef>
    </p:bg>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10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12 Conector recto"/>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13 Elipse"/>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Elipse"/>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6915912" y="3009901"/>
            <a:ext cx="457200" cy="441325"/>
          </a:xfrm>
        </p:spPr>
        <p:txBody>
          <a:bodyPr/>
          <a:lstStyle/>
          <a:p>
            <a:fld id="{0CA6277F-52BA-4BBF-AC8C-3224377DB8D7}" type="slidenum">
              <a:rPr lang="es-MX" smtClean="0"/>
              <a:t>‹Nº›</a:t>
            </a:fld>
            <a:endParaRPr lang="es-MX"/>
          </a:p>
        </p:txBody>
      </p:sp>
      <p:sp>
        <p:nvSpPr>
          <p:cNvPr id="3" name="2 Marcador de texto vertical"/>
          <p:cNvSpPr>
            <a:spLocks noGrp="1"/>
          </p:cNvSpPr>
          <p:nvPr>
            <p:ph type="body" orient="vert" idx="1"/>
          </p:nvPr>
        </p:nvSpPr>
        <p:spPr>
          <a:xfrm>
            <a:off x="304800" y="304800"/>
            <a:ext cx="6553200" cy="5821366"/>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163DA3B-2784-4CAF-8FCA-D2487AFBAC7C}" type="datetimeFigureOut">
              <a:rPr lang="es-MX" smtClean="0"/>
              <a:t>21/02/22</a:t>
            </a:fld>
            <a:endParaRPr lang="es-MX"/>
          </a:p>
        </p:txBody>
      </p:sp>
      <p:sp>
        <p:nvSpPr>
          <p:cNvPr id="5" name="4 Marcador de pie de página"/>
          <p:cNvSpPr>
            <a:spLocks noGrp="1"/>
          </p:cNvSpPr>
          <p:nvPr>
            <p:ph type="ftr" sz="quarter" idx="11"/>
          </p:nvPr>
        </p:nvSpPr>
        <p:spPr/>
        <p:txBody>
          <a:bodyPr/>
          <a:lstStyle/>
          <a:p>
            <a:endParaRPr lang="es-MX"/>
          </a:p>
        </p:txBody>
      </p:sp>
      <p:sp>
        <p:nvSpPr>
          <p:cNvPr id="2" name="1 Título vertical"/>
          <p:cNvSpPr>
            <a:spLocks noGrp="1"/>
          </p:cNvSpPr>
          <p:nvPr>
            <p:ph type="title" orient="vert"/>
          </p:nvPr>
        </p:nvSpPr>
        <p:spPr>
          <a:xfrm>
            <a:off x="7391400" y="304801"/>
            <a:ext cx="1447800" cy="5851525"/>
          </a:xfrm>
        </p:spPr>
        <p:txBody>
          <a:bodyPr vert="eaVert"/>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13 Marcador de fecha"/>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163DA3B-2784-4CAF-8FCA-D2487AFBAC7C}" type="datetimeFigureOut">
              <a:rPr lang="es-MX" smtClean="0"/>
              <a:t>21/02/22</a:t>
            </a:fld>
            <a:endParaRPr lang="es-MX"/>
          </a:p>
        </p:txBody>
      </p:sp>
      <p:sp>
        <p:nvSpPr>
          <p:cNvPr id="3" name="2 Marcador de pie de página"/>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s-MX"/>
          </a:p>
        </p:txBody>
      </p:sp>
      <p:sp>
        <p:nvSpPr>
          <p:cNvPr id="8" name="7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9 Conector recto"/>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11 Elipse"/>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Elipse"/>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22 Marcador de número de diapositiva"/>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0CA6277F-52BA-4BBF-AC8C-3224377DB8D7}" type="slidenum">
              <a:rPr lang="es-MX" smtClean="0"/>
              <a:t>‹Nº›</a:t>
            </a:fld>
            <a:endParaRPr lang="es-MX"/>
          </a:p>
        </p:txBody>
      </p:sp>
      <p:sp>
        <p:nvSpPr>
          <p:cNvPr id="22" name="21 Marcador de título"/>
          <p:cNvSpPr>
            <a:spLocks noGrp="1"/>
          </p:cNvSpPr>
          <p:nvPr>
            <p:ph type="title"/>
          </p:nvPr>
        </p:nvSpPr>
        <p:spPr>
          <a:xfrm>
            <a:off x="301752" y="228600"/>
            <a:ext cx="8534400" cy="758952"/>
          </a:xfrm>
          <a:prstGeom prst="rect">
            <a:avLst/>
          </a:prstGeom>
        </p:spPr>
        <p:txBody>
          <a:bodyPr vert="horz" anchor="b">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1159737" y="3545128"/>
            <a:ext cx="6480720" cy="2260135"/>
          </a:xfrm>
        </p:spPr>
        <p:txBody>
          <a:bodyPr>
            <a:normAutofit fontScale="92500" lnSpcReduction="10000"/>
          </a:bodyPr>
          <a:lstStyle/>
          <a:p>
            <a:pPr algn="ctr"/>
            <a:endParaRPr lang="es-MX" dirty="0"/>
          </a:p>
          <a:p>
            <a:pPr algn="ctr"/>
            <a:r>
              <a:rPr lang="es-MX" sz="2100" dirty="0">
                <a:solidFill>
                  <a:schemeClr val="tx1"/>
                </a:solidFill>
              </a:rPr>
              <a:t>Ingeniería de software</a:t>
            </a:r>
          </a:p>
          <a:p>
            <a:pPr algn="ctr"/>
            <a:endParaRPr lang="es-MX" sz="2100" dirty="0">
              <a:solidFill>
                <a:schemeClr val="tx1"/>
              </a:solidFill>
            </a:endParaRPr>
          </a:p>
          <a:p>
            <a:pPr algn="ctr"/>
            <a:r>
              <a:rPr lang="es-MX" sz="2100" b="1" dirty="0">
                <a:solidFill>
                  <a:schemeClr val="tx1"/>
                </a:solidFill>
                <a:effectLst>
                  <a:outerShdw blurRad="38100" dist="38100" dir="2700000" algn="tl">
                    <a:srgbClr val="000000">
                      <a:alpha val="43137"/>
                    </a:srgbClr>
                  </a:outerShdw>
                </a:effectLst>
              </a:rPr>
              <a:t>M en c. Martha Rosa Cordero López</a:t>
            </a:r>
          </a:p>
          <a:p>
            <a:pPr algn="ctr"/>
            <a:r>
              <a:rPr lang="es-MX" sz="2100" dirty="0">
                <a:solidFill>
                  <a:schemeClr val="tx1"/>
                </a:solidFill>
                <a:effectLst>
                  <a:outerShdw blurRad="38100" dist="38100" dir="2700000" algn="tl">
                    <a:srgbClr val="000000">
                      <a:alpha val="43137"/>
                    </a:srgbClr>
                  </a:outerShdw>
                </a:effectLst>
              </a:rPr>
              <a:t>M EN C. MARCO A. </a:t>
            </a:r>
            <a:r>
              <a:rPr lang="es-MX" sz="2100">
                <a:solidFill>
                  <a:schemeClr val="tx1"/>
                </a:solidFill>
                <a:effectLst>
                  <a:outerShdw blurRad="38100" dist="38100" dir="2700000" algn="tl">
                    <a:srgbClr val="000000">
                      <a:alpha val="43137"/>
                    </a:srgbClr>
                  </a:outerShdw>
                </a:effectLst>
              </a:rPr>
              <a:t>DORANTES GONZÁLEZ</a:t>
            </a:r>
            <a:endParaRPr lang="es-MX" sz="2100" b="1" dirty="0">
              <a:solidFill>
                <a:schemeClr val="tx1"/>
              </a:solidFill>
              <a:effectLst>
                <a:outerShdw blurRad="38100" dist="38100" dir="2700000" algn="tl">
                  <a:srgbClr val="000000">
                    <a:alpha val="43137"/>
                  </a:srgbClr>
                </a:outerShdw>
              </a:effectLst>
            </a:endParaRPr>
          </a:p>
          <a:p>
            <a:pPr algn="ctr"/>
            <a:endParaRPr lang="es-MX" sz="2100" dirty="0">
              <a:solidFill>
                <a:schemeClr val="tx1"/>
              </a:solidFill>
            </a:endParaRPr>
          </a:p>
          <a:p>
            <a:pPr algn="ctr"/>
            <a:endParaRPr lang="es-MX" sz="2100" dirty="0">
              <a:solidFill>
                <a:schemeClr val="tx1"/>
              </a:solidFill>
            </a:endParaRPr>
          </a:p>
        </p:txBody>
      </p:sp>
      <p:sp>
        <p:nvSpPr>
          <p:cNvPr id="2" name="1 Título"/>
          <p:cNvSpPr>
            <a:spLocks noGrp="1"/>
          </p:cNvSpPr>
          <p:nvPr>
            <p:ph type="ctrTitle"/>
          </p:nvPr>
        </p:nvSpPr>
        <p:spPr>
          <a:xfrm>
            <a:off x="683568" y="476672"/>
            <a:ext cx="7772400" cy="1828800"/>
          </a:xfrm>
        </p:spPr>
        <p:txBody>
          <a:bodyPr>
            <a:normAutofit/>
          </a:bodyPr>
          <a:lstStyle/>
          <a:p>
            <a:pPr algn="ctr"/>
            <a:r>
              <a:rPr lang="es-MX" dirty="0"/>
              <a:t>Técnicas de Recolección de Requisitos</a:t>
            </a:r>
          </a:p>
        </p:txBody>
      </p:sp>
      <p:pic>
        <p:nvPicPr>
          <p:cNvPr id="4" name="Picture 36" descr="C:\Users\MANOLO\Pictures\elementos de presentacion\ESCOM logo fina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4253" y="4581128"/>
            <a:ext cx="2014537" cy="1657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64848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ENTREVISTA</a:t>
            </a:r>
          </a:p>
        </p:txBody>
      </p:sp>
      <p:sp>
        <p:nvSpPr>
          <p:cNvPr id="3" name="2 Marcador de contenido"/>
          <p:cNvSpPr>
            <a:spLocks noGrp="1"/>
          </p:cNvSpPr>
          <p:nvPr>
            <p:ph sz="quarter" idx="1"/>
          </p:nvPr>
        </p:nvSpPr>
        <p:spPr/>
        <p:txBody>
          <a:bodyPr/>
          <a:lstStyle/>
          <a:p>
            <a:pPr algn="just"/>
            <a:r>
              <a:rPr lang="es-MX" dirty="0"/>
              <a:t>Se utiliza para recabar información es una conversación dirigida con un propósito específico que utiliza un formato de preguntas y respuestas. </a:t>
            </a:r>
          </a:p>
          <a:p>
            <a:pPr algn="just"/>
            <a:endParaRPr lang="es-MX" dirty="0"/>
          </a:p>
          <a:p>
            <a:pPr algn="just"/>
            <a:r>
              <a:rPr lang="es-MX" dirty="0"/>
              <a:t>En la entrevista usted necesita obtener las opiniones de los entrevistados y su parecer acerca del estado actual del sistema, metas organizacionales y personales y procedimientos informales</a:t>
            </a:r>
          </a:p>
        </p:txBody>
      </p:sp>
    </p:spTree>
    <p:extLst>
      <p:ext uri="{BB962C8B-B14F-4D97-AF65-F5344CB8AC3E}">
        <p14:creationId xmlns:p14="http://schemas.microsoft.com/office/powerpoint/2010/main" val="2483980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MX" sz="2400" dirty="0"/>
              <a:t>CINCO PASOS PARA PREPARAR UNA ENTREVISTA</a:t>
            </a:r>
          </a:p>
        </p:txBody>
      </p:sp>
      <p:sp>
        <p:nvSpPr>
          <p:cNvPr id="3" name="2 Marcador de contenido"/>
          <p:cNvSpPr>
            <a:spLocks noGrp="1"/>
          </p:cNvSpPr>
          <p:nvPr>
            <p:ph sz="quarter" idx="1"/>
          </p:nvPr>
        </p:nvSpPr>
        <p:spPr/>
        <p:txBody>
          <a:bodyPr/>
          <a:lstStyle/>
          <a:p>
            <a:endParaRPr lang="es-MX" dirty="0"/>
          </a:p>
          <a:p>
            <a:pPr marL="514350" indent="-514350">
              <a:lnSpc>
                <a:spcPct val="150000"/>
              </a:lnSpc>
              <a:buFont typeface="+mj-lt"/>
              <a:buAutoNum type="arabicPeriod"/>
            </a:pPr>
            <a:r>
              <a:rPr lang="es-MX" dirty="0"/>
              <a:t>Leer antecedentes</a:t>
            </a:r>
          </a:p>
          <a:p>
            <a:pPr marL="514350" indent="-514350">
              <a:lnSpc>
                <a:spcPct val="150000"/>
              </a:lnSpc>
              <a:buFont typeface="+mj-lt"/>
              <a:buAutoNum type="arabicPeriod"/>
            </a:pPr>
            <a:r>
              <a:rPr lang="es-MX" dirty="0"/>
              <a:t>Establecer Objetivos de la entrevista</a:t>
            </a:r>
          </a:p>
          <a:p>
            <a:pPr marL="514350" indent="-514350">
              <a:lnSpc>
                <a:spcPct val="150000"/>
              </a:lnSpc>
              <a:buFont typeface="+mj-lt"/>
              <a:buAutoNum type="arabicPeriod"/>
            </a:pPr>
            <a:r>
              <a:rPr lang="es-MX" dirty="0"/>
              <a:t>Decidir a quién se va a entrevistar</a:t>
            </a:r>
          </a:p>
          <a:p>
            <a:pPr marL="514350" indent="-514350">
              <a:lnSpc>
                <a:spcPct val="150000"/>
              </a:lnSpc>
              <a:buFont typeface="+mj-lt"/>
              <a:buAutoNum type="arabicPeriod"/>
            </a:pPr>
            <a:r>
              <a:rPr lang="es-MX" dirty="0"/>
              <a:t>Preparar al entrevistado.</a:t>
            </a:r>
          </a:p>
          <a:p>
            <a:pPr marL="514350" indent="-514350">
              <a:lnSpc>
                <a:spcPct val="150000"/>
              </a:lnSpc>
              <a:buFont typeface="+mj-lt"/>
              <a:buAutoNum type="arabicPeriod"/>
            </a:pPr>
            <a:r>
              <a:rPr lang="es-MX" dirty="0"/>
              <a:t>Decidir el tipo de preguntas  y la estructura.</a:t>
            </a:r>
          </a:p>
        </p:txBody>
      </p:sp>
    </p:spTree>
    <p:extLst>
      <p:ext uri="{BB962C8B-B14F-4D97-AF65-F5344CB8AC3E}">
        <p14:creationId xmlns:p14="http://schemas.microsoft.com/office/powerpoint/2010/main" val="659498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320106" y="249319"/>
            <a:ext cx="2736304" cy="28083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b="1" u="sng" dirty="0"/>
              <a:t>Leer Antecedentes </a:t>
            </a:r>
          </a:p>
          <a:p>
            <a:pPr algn="just"/>
            <a:endParaRPr lang="es-MX" dirty="0"/>
          </a:p>
          <a:p>
            <a:pPr algn="just"/>
            <a:r>
              <a:rPr lang="es-MX" dirty="0"/>
              <a:t>Leer y entender tanto como sea posible los antecedentes de los entrevistados y su organización.</a:t>
            </a:r>
          </a:p>
        </p:txBody>
      </p:sp>
      <p:sp>
        <p:nvSpPr>
          <p:cNvPr id="5" name="4 Rectángulo redondeado"/>
          <p:cNvSpPr/>
          <p:nvPr/>
        </p:nvSpPr>
        <p:spPr>
          <a:xfrm>
            <a:off x="324864" y="3254005"/>
            <a:ext cx="2879429" cy="2993682"/>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b="1" u="sng" dirty="0"/>
              <a:t>Establecer los objetivos.</a:t>
            </a:r>
          </a:p>
          <a:p>
            <a:endParaRPr lang="es-MX" b="1" u="sng" dirty="0"/>
          </a:p>
          <a:p>
            <a:r>
              <a:rPr lang="es-MX" dirty="0"/>
              <a:t>Utilice los antecedentes que haya recopilado así</a:t>
            </a:r>
          </a:p>
          <a:p>
            <a:r>
              <a:rPr lang="es-MX" dirty="0"/>
              <a:t>como su propia experiencia para establecer los objetivos de la entrevista.</a:t>
            </a:r>
          </a:p>
        </p:txBody>
      </p:sp>
      <p:sp>
        <p:nvSpPr>
          <p:cNvPr id="6" name="5 Rectángulo redondeado"/>
          <p:cNvSpPr/>
          <p:nvPr/>
        </p:nvSpPr>
        <p:spPr>
          <a:xfrm>
            <a:off x="6170030" y="193634"/>
            <a:ext cx="2736304" cy="2808312"/>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b="1" u="sng" dirty="0"/>
              <a:t>Decidir a quién entrevistar </a:t>
            </a:r>
          </a:p>
          <a:p>
            <a:r>
              <a:rPr lang="es-MX" dirty="0"/>
              <a:t>Cuando tenga que decidir a quién entrevistar, incluya a gente clave de todos los niveles que vayan a ser afectadas por el sistema de alguna manera.</a:t>
            </a:r>
          </a:p>
        </p:txBody>
      </p:sp>
      <p:sp>
        <p:nvSpPr>
          <p:cNvPr id="7" name="6 Rectángulo redondeado"/>
          <p:cNvSpPr/>
          <p:nvPr/>
        </p:nvSpPr>
        <p:spPr>
          <a:xfrm>
            <a:off x="6156176" y="3140968"/>
            <a:ext cx="2822166" cy="3219756"/>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b="1" u="sng" dirty="0"/>
              <a:t>Preparar al entrevistado </a:t>
            </a:r>
          </a:p>
          <a:p>
            <a:r>
              <a:rPr lang="es-MX" dirty="0"/>
              <a:t>Prepare a la persona que va a ser entrevistada hablándole por</a:t>
            </a:r>
          </a:p>
          <a:p>
            <a:r>
              <a:rPr lang="es-MX" dirty="0"/>
              <a:t>anticipado o enviándole un mensaje de correo electrónico y dándole tiempo.</a:t>
            </a:r>
          </a:p>
        </p:txBody>
      </p:sp>
      <p:sp>
        <p:nvSpPr>
          <p:cNvPr id="8" name="7 Rectángulo redondeado"/>
          <p:cNvSpPr/>
          <p:nvPr/>
        </p:nvSpPr>
        <p:spPr>
          <a:xfrm>
            <a:off x="3200845" y="908720"/>
            <a:ext cx="2879429" cy="3672408"/>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u="sng" dirty="0"/>
              <a:t>Decidir el tipo de preguntas y la estructura </a:t>
            </a:r>
          </a:p>
          <a:p>
            <a:endParaRPr lang="es-MX" b="1" dirty="0"/>
          </a:p>
          <a:p>
            <a:pPr algn="just"/>
            <a:r>
              <a:rPr lang="es-MX" dirty="0"/>
              <a:t>Escriba preguntas que abarquen las áreas clave de la toma de decisiones que haya descubierto al  determinar los objetivos.</a:t>
            </a:r>
          </a:p>
        </p:txBody>
      </p:sp>
    </p:spTree>
    <p:extLst>
      <p:ext uri="{BB962C8B-B14F-4D97-AF65-F5344CB8AC3E}">
        <p14:creationId xmlns:p14="http://schemas.microsoft.com/office/powerpoint/2010/main" val="1489613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TIPOS DE PREGUNTAS</a:t>
            </a:r>
          </a:p>
        </p:txBody>
      </p:sp>
      <p:sp>
        <p:nvSpPr>
          <p:cNvPr id="3" name="2 Rectángulo"/>
          <p:cNvSpPr/>
          <p:nvPr/>
        </p:nvSpPr>
        <p:spPr>
          <a:xfrm>
            <a:off x="323528" y="1340768"/>
            <a:ext cx="8352928" cy="1440160"/>
          </a:xfrm>
          <a:prstGeom prst="rect">
            <a:avLst/>
          </a:prstGeom>
          <a:ln>
            <a:solidFill>
              <a:schemeClr val="bg1"/>
            </a:solidFill>
          </a:ln>
        </p:spPr>
        <p:style>
          <a:lnRef idx="2">
            <a:schemeClr val="accent2"/>
          </a:lnRef>
          <a:fillRef idx="1001">
            <a:schemeClr val="lt1"/>
          </a:fillRef>
          <a:effectRef idx="0">
            <a:schemeClr val="accent2"/>
          </a:effectRef>
          <a:fontRef idx="minor">
            <a:schemeClr val="dk1"/>
          </a:fontRef>
        </p:style>
        <p:txBody>
          <a:bodyPr rtlCol="0" anchor="ctr"/>
          <a:lstStyle/>
          <a:p>
            <a:pPr algn="just"/>
            <a:r>
              <a:rPr lang="es-MX" b="1" dirty="0"/>
              <a:t>Preguntas abiertas</a:t>
            </a:r>
          </a:p>
          <a:p>
            <a:pPr algn="just"/>
            <a:r>
              <a:rPr lang="es-MX" dirty="0"/>
              <a:t>Considere el término </a:t>
            </a:r>
            <a:r>
              <a:rPr lang="es-MX" i="1" dirty="0"/>
              <a:t>abiertas. </a:t>
            </a:r>
            <a:r>
              <a:rPr lang="es-MX" dirty="0"/>
              <a:t>En realidad, "abiertas" describe las opciones del entrevistado para responder. Estas preguntas incluyen aquellas como "¿Qué piensa de poner a todos los gerentes en una intranet?"</a:t>
            </a:r>
          </a:p>
          <a:p>
            <a:endParaRPr lang="es-MX" dirty="0"/>
          </a:p>
        </p:txBody>
      </p:sp>
      <p:sp>
        <p:nvSpPr>
          <p:cNvPr id="4" name="3 Rectángulo"/>
          <p:cNvSpPr/>
          <p:nvPr/>
        </p:nvSpPr>
        <p:spPr>
          <a:xfrm>
            <a:off x="1043608" y="2564904"/>
            <a:ext cx="6912768" cy="367240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MX" dirty="0"/>
              <a:t>Algunas ventajas de usar preguntas abiertas son:</a:t>
            </a:r>
          </a:p>
          <a:p>
            <a:pPr marL="285750" indent="-285750">
              <a:buFont typeface="Wingdings" panose="05000000000000000000" pitchFamily="2" charset="2"/>
              <a:buChar char="ü"/>
            </a:pPr>
            <a:r>
              <a:rPr lang="es-MX" dirty="0"/>
              <a:t> Permiten al entrevistador entender el vocabulario del entrevistado, el cual refleja su educación, valores, actitudes y creencias.</a:t>
            </a:r>
          </a:p>
          <a:p>
            <a:pPr marL="285750" indent="-285750">
              <a:buFont typeface="Wingdings" panose="05000000000000000000" pitchFamily="2" charset="2"/>
              <a:buChar char="ü"/>
            </a:pPr>
            <a:r>
              <a:rPr lang="es-MX" dirty="0"/>
              <a:t> Proporcionan gran cantidad de detalles.</a:t>
            </a:r>
          </a:p>
          <a:p>
            <a:pPr marL="285750" indent="-285750">
              <a:buFont typeface="Wingdings" panose="05000000000000000000" pitchFamily="2" charset="2"/>
              <a:buChar char="ü"/>
            </a:pPr>
            <a:r>
              <a:rPr lang="es-MX" dirty="0"/>
              <a:t> Revelan nuevas líneas de preguntas que pudieron haber pasado desapercibidas.</a:t>
            </a:r>
          </a:p>
          <a:p>
            <a:pPr marL="285750" indent="-285750">
              <a:buFont typeface="Wingdings" panose="05000000000000000000" pitchFamily="2" charset="2"/>
              <a:buChar char="ü"/>
            </a:pPr>
            <a:r>
              <a:rPr lang="es-MX" dirty="0"/>
              <a:t>Hacen más interesante la entrevista para el entrevistado.</a:t>
            </a:r>
          </a:p>
          <a:p>
            <a:pPr marL="285750" indent="-285750">
              <a:buFont typeface="Wingdings" panose="05000000000000000000" pitchFamily="2" charset="2"/>
              <a:buChar char="ü"/>
            </a:pPr>
            <a:r>
              <a:rPr lang="es-MX" dirty="0"/>
              <a:t> Permiten más espontaneidad.</a:t>
            </a:r>
          </a:p>
          <a:p>
            <a:pPr marL="285750" indent="-285750">
              <a:buFont typeface="Wingdings" panose="05000000000000000000" pitchFamily="2" charset="2"/>
              <a:buChar char="ü"/>
            </a:pPr>
            <a:r>
              <a:rPr lang="es-MX" dirty="0"/>
              <a:t>Facilitan la forma de expresarse al entrevistador.</a:t>
            </a:r>
          </a:p>
          <a:p>
            <a:pPr marL="285750" indent="-285750">
              <a:buFont typeface="Wingdings" panose="05000000000000000000" pitchFamily="2" charset="2"/>
              <a:buChar char="ü"/>
            </a:pPr>
            <a:r>
              <a:rPr lang="es-MX" dirty="0"/>
              <a:t>Son un buen recurso si el entrevistador no está preparado para la entrevista.</a:t>
            </a:r>
          </a:p>
        </p:txBody>
      </p:sp>
    </p:spTree>
    <p:extLst>
      <p:ext uri="{BB962C8B-B14F-4D97-AF65-F5344CB8AC3E}">
        <p14:creationId xmlns:p14="http://schemas.microsoft.com/office/powerpoint/2010/main" val="3474583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251520" y="620688"/>
            <a:ext cx="8390384" cy="2362378"/>
          </a:xfrm>
        </p:spPr>
        <p:txBody>
          <a:bodyPr>
            <a:normAutofit/>
          </a:bodyPr>
          <a:lstStyle/>
          <a:p>
            <a:pPr algn="just"/>
            <a:br>
              <a:rPr lang="es-MX" sz="2800" dirty="0">
                <a:solidFill>
                  <a:schemeClr val="tx1"/>
                </a:solidFill>
              </a:rPr>
            </a:br>
            <a:r>
              <a:rPr lang="es-MX" sz="2400" b="1" dirty="0">
                <a:solidFill>
                  <a:schemeClr val="tx1"/>
                </a:solidFill>
              </a:rPr>
              <a:t>Preguntas Cerradas: </a:t>
            </a:r>
            <a:r>
              <a:rPr lang="es-MX" sz="2400" dirty="0">
                <a:solidFill>
                  <a:schemeClr val="tx1"/>
                </a:solidFill>
              </a:rPr>
              <a:t>Son aquellas donde las respuestas posibles se cierran al entrevistado, debido a que sólo se limita a contestar respuestas cortas como “ si”, “no”, alguna cantidad finita, etc.</a:t>
            </a:r>
          </a:p>
        </p:txBody>
      </p:sp>
      <p:sp>
        <p:nvSpPr>
          <p:cNvPr id="4" name="3 Rectángulo redondeado"/>
          <p:cNvSpPr/>
          <p:nvPr/>
        </p:nvSpPr>
        <p:spPr>
          <a:xfrm>
            <a:off x="1187624" y="3140968"/>
            <a:ext cx="7416824" cy="273630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s-MX" dirty="0"/>
              <a:t>Las ventajas de utilizar preguntas cerradas de cualquiera de los dos tipos incluyen lo siguiente:</a:t>
            </a:r>
          </a:p>
          <a:p>
            <a:r>
              <a:rPr lang="es-MX" dirty="0"/>
              <a:t>1. Ahorrar tiempo.</a:t>
            </a:r>
          </a:p>
          <a:p>
            <a:r>
              <a:rPr lang="es-MX" dirty="0"/>
              <a:t>2. Comparar las entrevistas fácilmente.</a:t>
            </a:r>
          </a:p>
          <a:p>
            <a:r>
              <a:rPr lang="es-MX" dirty="0"/>
              <a:t>3. Ir al grano.</a:t>
            </a:r>
          </a:p>
          <a:p>
            <a:r>
              <a:rPr lang="es-MX" dirty="0"/>
              <a:t>4. Mantener el control durante la entrevista.</a:t>
            </a:r>
          </a:p>
          <a:p>
            <a:r>
              <a:rPr lang="es-MX" dirty="0"/>
              <a:t>5. Cubrir terreno rápidamente.</a:t>
            </a:r>
          </a:p>
          <a:p>
            <a:r>
              <a:rPr lang="es-MX" dirty="0"/>
              <a:t>6. Conseguir datos relevantes.</a:t>
            </a:r>
          </a:p>
        </p:txBody>
      </p:sp>
    </p:spTree>
    <p:extLst>
      <p:ext uri="{BB962C8B-B14F-4D97-AF65-F5344CB8AC3E}">
        <p14:creationId xmlns:p14="http://schemas.microsoft.com/office/powerpoint/2010/main" val="3164630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3528" y="332656"/>
            <a:ext cx="8534400" cy="758952"/>
          </a:xfrm>
        </p:spPr>
        <p:txBody>
          <a:bodyPr>
            <a:normAutofit fontScale="90000"/>
          </a:bodyPr>
          <a:lstStyle/>
          <a:p>
            <a:r>
              <a:rPr lang="es-MX" dirty="0"/>
              <a:t>Las preguntas abiertas y cerradas tienen ventajas y desventajas</a:t>
            </a:r>
          </a:p>
        </p:txBody>
      </p:sp>
      <p:pic>
        <p:nvPicPr>
          <p:cNvPr id="3" name="Imagen 2"/>
          <p:cNvPicPr>
            <a:picLocks noChangeAspect="1"/>
          </p:cNvPicPr>
          <p:nvPr/>
        </p:nvPicPr>
        <p:blipFill rotWithShape="1">
          <a:blip r:embed="rId2"/>
          <a:srcRect l="19731" t="37203" r="28590" b="16532"/>
          <a:stretch/>
        </p:blipFill>
        <p:spPr>
          <a:xfrm>
            <a:off x="1187624" y="1628800"/>
            <a:ext cx="6499089" cy="4363674"/>
          </a:xfrm>
          <a:prstGeom prst="rect">
            <a:avLst/>
          </a:prstGeom>
          <a:ln>
            <a:solidFill>
              <a:schemeClr val="accent6">
                <a:lumMod val="60000"/>
                <a:lumOff val="40000"/>
              </a:schemeClr>
            </a:solidFill>
          </a:ln>
        </p:spPr>
      </p:pic>
    </p:spTree>
    <p:extLst>
      <p:ext uri="{BB962C8B-B14F-4D97-AF65-F5344CB8AC3E}">
        <p14:creationId xmlns:p14="http://schemas.microsoft.com/office/powerpoint/2010/main" val="1362024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332656"/>
            <a:ext cx="8534400" cy="758952"/>
          </a:xfrm>
        </p:spPr>
        <p:txBody>
          <a:bodyPr>
            <a:normAutofit fontScale="90000"/>
          </a:bodyPr>
          <a:lstStyle/>
          <a:p>
            <a:r>
              <a:rPr lang="es-MX" dirty="0"/>
              <a:t>CÓMO COLOCAR LAS PREGUNTAS EN UNA SECUENCIA LÓGICA</a:t>
            </a:r>
          </a:p>
        </p:txBody>
      </p:sp>
      <p:sp>
        <p:nvSpPr>
          <p:cNvPr id="3" name="2 CuadroTexto"/>
          <p:cNvSpPr txBox="1"/>
          <p:nvPr/>
        </p:nvSpPr>
        <p:spPr>
          <a:xfrm>
            <a:off x="467544" y="1589584"/>
            <a:ext cx="8208912" cy="3831818"/>
          </a:xfrm>
          <a:prstGeom prst="rect">
            <a:avLst/>
          </a:prstGeom>
          <a:noFill/>
        </p:spPr>
        <p:txBody>
          <a:bodyPr wrap="square" rtlCol="0">
            <a:spAutoFit/>
          </a:bodyPr>
          <a:lstStyle/>
          <a:p>
            <a:pPr algn="just">
              <a:lnSpc>
                <a:spcPct val="150000"/>
              </a:lnSpc>
            </a:pPr>
            <a:r>
              <a:rPr lang="es-MX" b="1" dirty="0"/>
              <a:t>Uso de una estructura de pirámide </a:t>
            </a:r>
            <a:r>
              <a:rPr lang="es-MX" dirty="0"/>
              <a:t>La organización inductiva de preguntas de la entrevista se puede visualizar como si se tuviera una forma de pirámide. Con base en esta forma, el entrevistador empieza con preguntas, a menudo cerradas, muy detalladas. Posteriormente, el entrevistador extiende los temas permitiendo preguntas abiertas y respuestas más generalizadas.</a:t>
            </a:r>
          </a:p>
          <a:p>
            <a:pPr algn="just">
              <a:lnSpc>
                <a:spcPct val="150000"/>
              </a:lnSpc>
            </a:pPr>
            <a:endParaRPr lang="es-MX" dirty="0"/>
          </a:p>
          <a:p>
            <a:pPr algn="just">
              <a:lnSpc>
                <a:spcPct val="150000"/>
              </a:lnSpc>
            </a:pPr>
            <a:r>
              <a:rPr lang="es-MX" b="1" dirty="0"/>
              <a:t>Uso de una estructura de embudo </a:t>
            </a:r>
            <a:r>
              <a:rPr lang="es-MX" dirty="0"/>
              <a:t>En el segundo tipo de estructura, el entrevistador adopta un método deductivo al iniciar con preguntas generales y abiertas, y luego limitar las posibles respuestas utilizando preguntas cerradas.</a:t>
            </a:r>
          </a:p>
        </p:txBody>
      </p:sp>
    </p:spTree>
    <p:extLst>
      <p:ext uri="{BB962C8B-B14F-4D97-AF65-F5344CB8AC3E}">
        <p14:creationId xmlns:p14="http://schemas.microsoft.com/office/powerpoint/2010/main" val="424066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Pirámides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051" t="44642" r="44558" b="6251"/>
          <a:stretch/>
        </p:blipFill>
        <p:spPr bwMode="auto">
          <a:xfrm>
            <a:off x="827584" y="1478134"/>
            <a:ext cx="6624736" cy="431479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95153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872" t="12104" r="27825" b="6250"/>
          <a:stretch/>
        </p:blipFill>
        <p:spPr bwMode="auto">
          <a:xfrm>
            <a:off x="1187624" y="116632"/>
            <a:ext cx="6480720" cy="615892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401862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CUESTIONARIO</a:t>
            </a:r>
          </a:p>
        </p:txBody>
      </p:sp>
      <p:sp>
        <p:nvSpPr>
          <p:cNvPr id="3" name="Rectángulo 2"/>
          <p:cNvSpPr/>
          <p:nvPr/>
        </p:nvSpPr>
        <p:spPr>
          <a:xfrm>
            <a:off x="611560" y="1628800"/>
            <a:ext cx="7632848" cy="1631216"/>
          </a:xfrm>
          <a:prstGeom prst="rect">
            <a:avLst/>
          </a:prstGeom>
        </p:spPr>
        <p:txBody>
          <a:bodyPr wrap="square">
            <a:spAutoFit/>
          </a:bodyPr>
          <a:lstStyle/>
          <a:p>
            <a:pPr algn="just"/>
            <a:r>
              <a:rPr lang="es-MX" sz="2000" dirty="0">
                <a:latin typeface="Times New Roman" panose="02020603050405020304" pitchFamily="18" charset="0"/>
              </a:rPr>
              <a:t>El uso de cuestionarios es una técnica de recopilación de información que permite a los analistas de sistemas estudiar las actitudes, creencias, comportamiento y características de muchas personas importantes en la organización que podrían resultar afectadas por los sistemas actuales y los propuestos.</a:t>
            </a:r>
            <a:endParaRPr lang="es-MX" sz="2000" dirty="0"/>
          </a:p>
        </p:txBody>
      </p:sp>
      <p:pic>
        <p:nvPicPr>
          <p:cNvPr id="1026" name="Picture 2" descr="http://www.telefonodelaesperanza.org/imgs/44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1347" y="3366040"/>
            <a:ext cx="3034805" cy="2787403"/>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ángulo 3"/>
          <p:cNvSpPr/>
          <p:nvPr/>
        </p:nvSpPr>
        <p:spPr>
          <a:xfrm>
            <a:off x="448698" y="3882579"/>
            <a:ext cx="5184576"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s-MX" dirty="0">
                <a:latin typeface="Times New Roman" panose="02020603050405020304" pitchFamily="18" charset="0"/>
              </a:rPr>
              <a:t>A primera vista los cuestionarios podrían parecer una manera rápida de recopilar grandes</a:t>
            </a:r>
          </a:p>
          <a:p>
            <a:pPr algn="just"/>
            <a:r>
              <a:rPr lang="es-MX" dirty="0">
                <a:latin typeface="Times New Roman" panose="02020603050405020304" pitchFamily="18" charset="0"/>
              </a:rPr>
              <a:t>cantidades de datos sobre la opinión que los usuarios tienen del sistema actual, sobre los problemas que experimentan con su trabajo y sobre lo que la gente espera de un sistema nuevo o uno modificado.</a:t>
            </a:r>
            <a:endParaRPr lang="es-MX" dirty="0"/>
          </a:p>
        </p:txBody>
      </p:sp>
    </p:spTree>
    <p:extLst>
      <p:ext uri="{BB962C8B-B14F-4D97-AF65-F5344CB8AC3E}">
        <p14:creationId xmlns:p14="http://schemas.microsoft.com/office/powerpoint/2010/main" val="349426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CUESTIONARIOS</a:t>
            </a:r>
          </a:p>
        </p:txBody>
      </p:sp>
      <p:sp>
        <p:nvSpPr>
          <p:cNvPr id="3" name="2 CuadroTexto"/>
          <p:cNvSpPr txBox="1"/>
          <p:nvPr/>
        </p:nvSpPr>
        <p:spPr>
          <a:xfrm>
            <a:off x="683568" y="1556792"/>
            <a:ext cx="7416824" cy="4247317"/>
          </a:xfrm>
          <a:prstGeom prst="rect">
            <a:avLst/>
          </a:prstGeom>
          <a:noFill/>
        </p:spPr>
        <p:txBody>
          <a:bodyPr wrap="square" rtlCol="0">
            <a:spAutoFit/>
          </a:bodyPr>
          <a:lstStyle/>
          <a:p>
            <a:pPr>
              <a:lnSpc>
                <a:spcPct val="150000"/>
              </a:lnSpc>
            </a:pPr>
            <a:r>
              <a:rPr lang="es-MX" sz="2000" dirty="0"/>
              <a:t>Un cuestionario bien diseñado puede ayudar a superar parte de esta reticencia a responder.</a:t>
            </a:r>
          </a:p>
          <a:p>
            <a:pPr>
              <a:lnSpc>
                <a:spcPct val="150000"/>
              </a:lnSpc>
            </a:pPr>
            <a:r>
              <a:rPr lang="es-MX" sz="2000" dirty="0"/>
              <a:t>A continuación mencionamos algunas reglas para diseñar un buen cuestionario:</a:t>
            </a:r>
          </a:p>
          <a:p>
            <a:pPr>
              <a:lnSpc>
                <a:spcPct val="150000"/>
              </a:lnSpc>
            </a:pPr>
            <a:r>
              <a:rPr lang="es-MX" sz="2000" dirty="0"/>
              <a:t>1. Deje bastante espacio en blanco.</a:t>
            </a:r>
          </a:p>
          <a:p>
            <a:pPr>
              <a:lnSpc>
                <a:spcPct val="150000"/>
              </a:lnSpc>
            </a:pPr>
            <a:r>
              <a:rPr lang="es-MX" sz="2000" dirty="0"/>
              <a:t>2. Proporcione suficiente espacio para escribir las respuestas.</a:t>
            </a:r>
          </a:p>
          <a:p>
            <a:pPr>
              <a:lnSpc>
                <a:spcPct val="150000"/>
              </a:lnSpc>
            </a:pPr>
            <a:r>
              <a:rPr lang="es-MX" sz="2000" dirty="0"/>
              <a:t>3. Facilite a los encuestados que marquen con claridad sus respuestas.</a:t>
            </a:r>
          </a:p>
          <a:p>
            <a:pPr>
              <a:lnSpc>
                <a:spcPct val="150000"/>
              </a:lnSpc>
            </a:pPr>
            <a:r>
              <a:rPr lang="es-MX" sz="2000" dirty="0"/>
              <a:t>4. Mantenga un estilo consistente.</a:t>
            </a:r>
          </a:p>
        </p:txBody>
      </p:sp>
    </p:spTree>
    <p:extLst>
      <p:ext uri="{BB962C8B-B14F-4D97-AF65-F5344CB8AC3E}">
        <p14:creationId xmlns:p14="http://schemas.microsoft.com/office/powerpoint/2010/main" val="204014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dirty="0"/>
          </a:p>
        </p:txBody>
      </p:sp>
      <p:sp>
        <p:nvSpPr>
          <p:cNvPr id="3" name="2 Rectángulo"/>
          <p:cNvSpPr/>
          <p:nvPr/>
        </p:nvSpPr>
        <p:spPr>
          <a:xfrm>
            <a:off x="539552" y="1608909"/>
            <a:ext cx="8136904" cy="1015663"/>
          </a:xfrm>
          <a:prstGeom prst="rect">
            <a:avLst/>
          </a:prstGeom>
        </p:spPr>
        <p:txBody>
          <a:bodyPr wrap="square">
            <a:spAutoFit/>
          </a:bodyPr>
          <a:lstStyle/>
          <a:p>
            <a:pPr algn="just"/>
            <a:r>
              <a:rPr lang="es-MX" sz="2000" b="1" dirty="0">
                <a:latin typeface="Times New Roman" panose="02020603050405020304" pitchFamily="18" charset="0"/>
                <a:cs typeface="Times New Roman" panose="02020603050405020304" pitchFamily="18" charset="0"/>
              </a:rPr>
              <a:t>El orden de las preguntas </a:t>
            </a:r>
            <a:r>
              <a:rPr lang="es-MX" sz="2000" dirty="0">
                <a:latin typeface="Times New Roman" panose="02020603050405020304" pitchFamily="18" charset="0"/>
                <a:cs typeface="Times New Roman" panose="02020603050405020304" pitchFamily="18" charset="0"/>
              </a:rPr>
              <a:t>No hay una manera de ordenar las preguntas del cuestionario que se considere como la mejor. Una vez más, conforme ordene las preguntas, debe pensar en los objetivos que persigue con el cuestionario.</a:t>
            </a:r>
          </a:p>
        </p:txBody>
      </p:sp>
      <p:sp>
        <p:nvSpPr>
          <p:cNvPr id="4" name="Rectángulo 3"/>
          <p:cNvSpPr/>
          <p:nvPr/>
        </p:nvSpPr>
        <p:spPr>
          <a:xfrm>
            <a:off x="518884" y="2924944"/>
            <a:ext cx="7899176" cy="1323439"/>
          </a:xfrm>
          <a:prstGeom prst="rect">
            <a:avLst/>
          </a:prstGeom>
        </p:spPr>
        <p:txBody>
          <a:bodyPr wrap="square">
            <a:spAutoFit/>
          </a:bodyPr>
          <a:lstStyle/>
          <a:p>
            <a:pPr algn="just"/>
            <a:r>
              <a:rPr lang="es-MX" sz="2000" dirty="0">
                <a:latin typeface="Times New Roman" panose="02020603050405020304" pitchFamily="18" charset="0"/>
              </a:rPr>
              <a:t>Los tipos básicos de preguntas que se utilizan en los cuestionarios son las abiertas y las cerradas, al igual que en las entrevistas. Debido a las limitaciones propias de los cuestionarios, se justifica una explicación adicional de los tipos de preguntas de éstos.</a:t>
            </a:r>
            <a:endParaRPr lang="es-MX" sz="2000" dirty="0"/>
          </a:p>
        </p:txBody>
      </p:sp>
      <p:pic>
        <p:nvPicPr>
          <p:cNvPr id="2050" name="Picture 2" descr="http://ticam.info/wp-content/uploads/2013/02/icon-36969_128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4005064"/>
            <a:ext cx="2328193" cy="232819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60526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Lenguaje de las preguntas del cuestionario</a:t>
            </a:r>
          </a:p>
        </p:txBody>
      </p:sp>
      <p:sp>
        <p:nvSpPr>
          <p:cNvPr id="3" name="Rectángulo 2"/>
          <p:cNvSpPr/>
          <p:nvPr/>
        </p:nvSpPr>
        <p:spPr>
          <a:xfrm>
            <a:off x="564668" y="1412776"/>
            <a:ext cx="8008568" cy="2862322"/>
          </a:xfrm>
          <a:prstGeom prst="rect">
            <a:avLst/>
          </a:prstGeom>
        </p:spPr>
        <p:txBody>
          <a:bodyPr wrap="square">
            <a:spAutoFit/>
          </a:bodyPr>
          <a:lstStyle/>
          <a:p>
            <a:r>
              <a:rPr lang="es-MX" sz="2000" dirty="0">
                <a:latin typeface="Times New Roman" panose="02020603050405020304" pitchFamily="18" charset="0"/>
              </a:rPr>
              <a:t>A continuación mencionamos algunos lincamientos útiles para la elección del lenguaje del cuestionario:</a:t>
            </a:r>
          </a:p>
          <a:p>
            <a:pPr marL="914400" lvl="1" indent="-457200">
              <a:buFont typeface="+mj-lt"/>
              <a:buAutoNum type="arabicPeriod"/>
            </a:pPr>
            <a:r>
              <a:rPr lang="es-MX" sz="2000" dirty="0">
                <a:latin typeface="Times New Roman" panose="02020603050405020304" pitchFamily="18" charset="0"/>
              </a:rPr>
              <a:t>Use el lenguaje de los encuestados siempre que sea posible. Utilice una redacción sencilla.</a:t>
            </a:r>
          </a:p>
          <a:p>
            <a:pPr marL="914400" lvl="1" indent="-457200">
              <a:buFont typeface="+mj-lt"/>
              <a:buAutoNum type="arabicPeriod"/>
            </a:pPr>
            <a:r>
              <a:rPr lang="es-MX" sz="2000" dirty="0">
                <a:latin typeface="Times New Roman" panose="02020603050405020304" pitchFamily="18" charset="0"/>
              </a:rPr>
              <a:t>Esfuércese por ser específico en lugar de divagar en la redacción. También evite las preguntas demasiado específicas.</a:t>
            </a:r>
          </a:p>
          <a:p>
            <a:pPr marL="914400" lvl="1" indent="-457200">
              <a:buFont typeface="+mj-lt"/>
              <a:buAutoNum type="arabicPeriod"/>
            </a:pPr>
            <a:r>
              <a:rPr lang="es-MX" sz="2000" dirty="0">
                <a:latin typeface="Times New Roman" panose="02020603050405020304" pitchFamily="18" charset="0"/>
              </a:rPr>
              <a:t>Haga preguntas breves.</a:t>
            </a:r>
          </a:p>
          <a:p>
            <a:pPr marL="914400" lvl="1" indent="-457200">
              <a:buFont typeface="+mj-lt"/>
              <a:buAutoNum type="arabicPeriod"/>
            </a:pPr>
            <a:r>
              <a:rPr lang="es-MX" sz="2000" dirty="0">
                <a:latin typeface="Times New Roman" panose="02020603050405020304" pitchFamily="18" charset="0"/>
              </a:rPr>
              <a:t>No sea condescendiente con los encuestados ni los subestime con opciones de lenguaje de bajo nivel.</a:t>
            </a:r>
          </a:p>
        </p:txBody>
      </p:sp>
      <p:pic>
        <p:nvPicPr>
          <p:cNvPr id="3074" name="Picture 2" descr="https://encrypted-tbn1.google.com/images?q=tbn:ANd9GcQufRjzlrkxRqJOa_jdhJXMI3OnQxC_8bvIq8LkeQTEdfsxc_ejH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4005064"/>
            <a:ext cx="2085975" cy="21907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470783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332656"/>
            <a:ext cx="8534400" cy="758952"/>
          </a:xfrm>
        </p:spPr>
        <p:txBody>
          <a:bodyPr>
            <a:normAutofit fontScale="90000"/>
          </a:bodyPr>
          <a:lstStyle/>
          <a:p>
            <a:r>
              <a:rPr lang="es-MX" b="1" dirty="0"/>
              <a:t>USO DE ESCALAS EN LOS CUESTIONARIOS</a:t>
            </a:r>
            <a:endParaRPr lang="es-MX" dirty="0"/>
          </a:p>
        </p:txBody>
      </p:sp>
      <p:sp>
        <p:nvSpPr>
          <p:cNvPr id="3" name="Rectángulo 2"/>
          <p:cNvSpPr/>
          <p:nvPr/>
        </p:nvSpPr>
        <p:spPr>
          <a:xfrm>
            <a:off x="755576" y="1556792"/>
            <a:ext cx="7740860" cy="2308324"/>
          </a:xfrm>
          <a:prstGeom prst="rect">
            <a:avLst/>
          </a:prstGeom>
        </p:spPr>
        <p:txBody>
          <a:bodyPr wrap="square">
            <a:spAutoFit/>
          </a:bodyPr>
          <a:lstStyle/>
          <a:p>
            <a:pPr algn="just"/>
            <a:r>
              <a:rPr lang="es-MX" dirty="0">
                <a:latin typeface="Times New Roman" panose="02020603050405020304" pitchFamily="18" charset="0"/>
                <a:cs typeface="Times New Roman" panose="02020603050405020304" pitchFamily="18" charset="0"/>
              </a:rPr>
              <a:t>El escalamiento es el proceso consistente en asignar números u otros símbolos a un atributo o característica con propósitos de medición.</a:t>
            </a:r>
          </a:p>
          <a:p>
            <a:pPr algn="just"/>
            <a:r>
              <a:rPr lang="es-MX" dirty="0">
                <a:latin typeface="Times New Roman" panose="02020603050405020304" pitchFamily="18" charset="0"/>
                <a:cs typeface="Times New Roman" panose="02020603050405020304" pitchFamily="18" charset="0"/>
              </a:rPr>
              <a:t> Las escalas son a menudo arbitrarias y en algunos casos no son únicas.</a:t>
            </a:r>
          </a:p>
          <a:p>
            <a:pPr algn="just"/>
            <a:r>
              <a:rPr lang="es-MX" b="1" dirty="0">
                <a:latin typeface="Times New Roman" panose="02020603050405020304" pitchFamily="18" charset="0"/>
                <a:cs typeface="Times New Roman" panose="02020603050405020304" pitchFamily="18" charset="0"/>
              </a:rPr>
              <a:t>Medición </a:t>
            </a:r>
            <a:r>
              <a:rPr lang="es-MX" dirty="0">
                <a:latin typeface="Times New Roman" panose="02020603050405020304" pitchFamily="18" charset="0"/>
                <a:cs typeface="Times New Roman" panose="02020603050405020304" pitchFamily="18" charset="0"/>
              </a:rPr>
              <a:t>Por lo general, los analistas de sistemas utilizan dos diferentes formas de escalas de medición:</a:t>
            </a:r>
          </a:p>
          <a:p>
            <a:pPr algn="just"/>
            <a:r>
              <a:rPr lang="es-MX" dirty="0">
                <a:latin typeface="Times New Roman" panose="02020603050405020304" pitchFamily="18" charset="0"/>
                <a:cs typeface="Times New Roman" panose="02020603050405020304" pitchFamily="18" charset="0"/>
              </a:rPr>
              <a:t>1. las escalas nominales y</a:t>
            </a:r>
          </a:p>
          <a:p>
            <a:pPr algn="just"/>
            <a:r>
              <a:rPr lang="es-MX" dirty="0">
                <a:latin typeface="Times New Roman" panose="02020603050405020304" pitchFamily="18" charset="0"/>
                <a:cs typeface="Times New Roman" panose="02020603050405020304" pitchFamily="18" charset="0"/>
              </a:rPr>
              <a:t>2. las escalas de intervalos.</a:t>
            </a:r>
          </a:p>
          <a:p>
            <a:pPr algn="just"/>
            <a:r>
              <a:rPr lang="es-MX" dirty="0">
                <a:latin typeface="Times New Roman" panose="02020603050405020304" pitchFamily="18" charset="0"/>
                <a:cs typeface="Times New Roman" panose="02020603050405020304" pitchFamily="18" charset="0"/>
              </a:rPr>
              <a:t>Las escalas nominales se utilizan para clasificar cosas. Una pregunta como:</a:t>
            </a:r>
          </a:p>
        </p:txBody>
      </p:sp>
      <p:sp>
        <p:nvSpPr>
          <p:cNvPr id="4" name="Rectángulo redondeado 3"/>
          <p:cNvSpPr/>
          <p:nvPr/>
        </p:nvSpPr>
        <p:spPr>
          <a:xfrm>
            <a:off x="1979712" y="4077072"/>
            <a:ext cx="4608512" cy="208823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MX" b="1"/>
              <a:t>¿Qué </a:t>
            </a:r>
            <a:r>
              <a:rPr lang="es-MX" b="1" i="1"/>
              <a:t>tipo de software usa más?</a:t>
            </a:r>
          </a:p>
          <a:p>
            <a:r>
              <a:rPr lang="es-MX"/>
              <a:t>1 = Un procesador de texto</a:t>
            </a:r>
          </a:p>
          <a:p>
            <a:r>
              <a:rPr lang="es-MX"/>
              <a:t>2 = Una hoja de cálculo</a:t>
            </a:r>
          </a:p>
          <a:p>
            <a:r>
              <a:rPr lang="es-MX"/>
              <a:t>3 = Una base de datos</a:t>
            </a:r>
          </a:p>
          <a:p>
            <a:r>
              <a:rPr lang="es-MX"/>
              <a:t>4 = Un programa de correo electrónico</a:t>
            </a:r>
            <a:endParaRPr lang="es-MX" dirty="0"/>
          </a:p>
        </p:txBody>
      </p:sp>
    </p:spTree>
    <p:extLst>
      <p:ext uri="{BB962C8B-B14F-4D97-AF65-F5344CB8AC3E}">
        <p14:creationId xmlns:p14="http://schemas.microsoft.com/office/powerpoint/2010/main" val="214769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DISEÑO DE CUESTIONARIOS</a:t>
            </a:r>
            <a:endParaRPr lang="es-MX" dirty="0"/>
          </a:p>
        </p:txBody>
      </p:sp>
      <p:sp>
        <p:nvSpPr>
          <p:cNvPr id="3" name="Rectángulo 2"/>
          <p:cNvSpPr/>
          <p:nvPr/>
        </p:nvSpPr>
        <p:spPr>
          <a:xfrm>
            <a:off x="683568" y="1484784"/>
            <a:ext cx="7848872" cy="4401205"/>
          </a:xfrm>
          <a:prstGeom prst="rect">
            <a:avLst/>
          </a:prstGeom>
        </p:spPr>
        <p:txBody>
          <a:bodyPr wrap="square">
            <a:spAutoFit/>
          </a:bodyPr>
          <a:lstStyle/>
          <a:p>
            <a:r>
              <a:rPr lang="es-MX" sz="2000" dirty="0">
                <a:latin typeface="Times New Roman" panose="02020603050405020304" pitchFamily="18" charset="0"/>
              </a:rPr>
              <a:t>Un cuestionario bien diseñado puede ayudar a superar parte de esta reticencia a responder.</a:t>
            </a:r>
          </a:p>
          <a:p>
            <a:endParaRPr lang="es-MX" sz="2000" dirty="0">
              <a:latin typeface="Times New Roman" panose="02020603050405020304" pitchFamily="18" charset="0"/>
            </a:endParaRPr>
          </a:p>
          <a:p>
            <a:r>
              <a:rPr lang="es-MX" sz="2000" dirty="0">
                <a:latin typeface="Times New Roman" panose="02020603050405020304" pitchFamily="18" charset="0"/>
              </a:rPr>
              <a:t>A continuación mencionamos algunas reglas para diseñar un buen cuestionario:</a:t>
            </a:r>
          </a:p>
          <a:p>
            <a:endParaRPr lang="es-MX" sz="2000" dirty="0">
              <a:latin typeface="Times New Roman" panose="02020603050405020304" pitchFamily="18" charset="0"/>
            </a:endParaRPr>
          </a:p>
          <a:p>
            <a:r>
              <a:rPr lang="es-MX" sz="2000" dirty="0">
                <a:latin typeface="Times New Roman" panose="02020603050405020304" pitchFamily="18" charset="0"/>
              </a:rPr>
              <a:t>1. Deje bastante espacio en blanco.</a:t>
            </a:r>
          </a:p>
          <a:p>
            <a:r>
              <a:rPr lang="es-MX" sz="2000" dirty="0">
                <a:latin typeface="Times New Roman" panose="02020603050405020304" pitchFamily="18" charset="0"/>
              </a:rPr>
              <a:t>2. Proporcione suficiente espacio para escribir las respuestas.</a:t>
            </a:r>
          </a:p>
          <a:p>
            <a:r>
              <a:rPr lang="es-MX" sz="2000" dirty="0">
                <a:latin typeface="Times New Roman" panose="02020603050405020304" pitchFamily="18" charset="0"/>
              </a:rPr>
              <a:t>3. Facilite a los encuestados que marquen con claridad sus respuestas.</a:t>
            </a:r>
          </a:p>
          <a:p>
            <a:r>
              <a:rPr lang="es-MX" sz="2000" dirty="0">
                <a:latin typeface="Times New Roman" panose="02020603050405020304" pitchFamily="18" charset="0"/>
              </a:rPr>
              <a:t>4. Mantenga un estilo consistente.</a:t>
            </a:r>
          </a:p>
          <a:p>
            <a:endParaRPr lang="es-MX" sz="2000" dirty="0">
              <a:latin typeface="Times New Roman" panose="02020603050405020304" pitchFamily="18" charset="0"/>
            </a:endParaRPr>
          </a:p>
          <a:p>
            <a:r>
              <a:rPr lang="es-MX" sz="2000" dirty="0">
                <a:latin typeface="Times New Roman" panose="02020603050405020304" pitchFamily="18" charset="0"/>
              </a:rPr>
              <a:t>Cuando diseñe cuestionarios para la Web, aplique las mismas reglas que utilice al diseñar</a:t>
            </a:r>
          </a:p>
          <a:p>
            <a:r>
              <a:rPr lang="es-MX" sz="2000" dirty="0">
                <a:latin typeface="Times New Roman" panose="02020603050405020304" pitchFamily="18" charset="0"/>
              </a:rPr>
              <a:t>cuestionarios impresos.</a:t>
            </a:r>
            <a:endParaRPr lang="es-MX" sz="2000" dirty="0"/>
          </a:p>
        </p:txBody>
      </p:sp>
    </p:spTree>
    <p:extLst>
      <p:ext uri="{BB962C8B-B14F-4D97-AF65-F5344CB8AC3E}">
        <p14:creationId xmlns:p14="http://schemas.microsoft.com/office/powerpoint/2010/main" val="150765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APLICACIÓN DE CUESTIONARIOS</a:t>
            </a:r>
          </a:p>
        </p:txBody>
      </p:sp>
      <p:sp>
        <p:nvSpPr>
          <p:cNvPr id="3" name="Rectángulo 2"/>
          <p:cNvSpPr/>
          <p:nvPr/>
        </p:nvSpPr>
        <p:spPr>
          <a:xfrm>
            <a:off x="755576" y="1628800"/>
            <a:ext cx="7776864" cy="3831818"/>
          </a:xfrm>
          <a:prstGeom prst="rect">
            <a:avLst/>
          </a:prstGeom>
        </p:spPr>
        <p:txBody>
          <a:bodyPr wrap="square">
            <a:spAutoFit/>
          </a:bodyPr>
          <a:lstStyle/>
          <a:p>
            <a:pPr algn="just">
              <a:lnSpc>
                <a:spcPct val="150000"/>
              </a:lnSpc>
            </a:pPr>
            <a:r>
              <a:rPr lang="es-MX" b="1" dirty="0">
                <a:latin typeface="Times New Roman" panose="02020603050405020304" pitchFamily="18" charset="0"/>
                <a:cs typeface="Times New Roman" panose="02020603050405020304" pitchFamily="18" charset="0"/>
              </a:rPr>
              <a:t>Encuestados </a:t>
            </a:r>
            <a:r>
              <a:rPr lang="es-MX" dirty="0">
                <a:latin typeface="Times New Roman" panose="02020603050405020304" pitchFamily="18" charset="0"/>
                <a:cs typeface="Times New Roman" panose="02020603050405020304" pitchFamily="18" charset="0"/>
              </a:rPr>
              <a:t>La decisión sobre quién recibirá el cuestionario se toma en conjunto con la tarea de establecer los objetivos que se persiguen con los resultados del mismo.</a:t>
            </a:r>
          </a:p>
          <a:p>
            <a:pPr algn="just">
              <a:lnSpc>
                <a:spcPct val="150000"/>
              </a:lnSpc>
            </a:pPr>
            <a:r>
              <a:rPr lang="es-MX" dirty="0">
                <a:latin typeface="Times New Roman" panose="02020603050405020304" pitchFamily="18" charset="0"/>
                <a:cs typeface="Times New Roman" panose="02020603050405020304" pitchFamily="18" charset="0"/>
              </a:rPr>
              <a:t>Los destinatarios a menudo son escogidos como representativos debido a su jerarquía, tiempo de servicio en la compañía, deberes, o interés especial en el sistema actual o propuesto.</a:t>
            </a:r>
          </a:p>
          <a:p>
            <a:pPr algn="just">
              <a:lnSpc>
                <a:spcPct val="150000"/>
              </a:lnSpc>
            </a:pPr>
            <a:r>
              <a:rPr lang="es-MX" dirty="0">
                <a:latin typeface="Times New Roman" panose="02020603050405020304" pitchFamily="18" charset="0"/>
                <a:cs typeface="Times New Roman" panose="02020603050405020304" pitchFamily="18" charset="0"/>
              </a:rPr>
              <a:t>Asegúrese de incluir suficientes encuestados para conseguir una muestra razonable en caso de que algunos cuestionarios no sean devueltos o algunas hojas de respuestas sean completadas incorrectamente y tengan que desecharse.</a:t>
            </a:r>
          </a:p>
        </p:txBody>
      </p:sp>
    </p:spTree>
    <p:extLst>
      <p:ext uri="{BB962C8B-B14F-4D97-AF65-F5344CB8AC3E}">
        <p14:creationId xmlns:p14="http://schemas.microsoft.com/office/powerpoint/2010/main" val="365682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3528" y="404664"/>
            <a:ext cx="8534400" cy="758952"/>
          </a:xfrm>
        </p:spPr>
        <p:txBody>
          <a:bodyPr>
            <a:normAutofit fontScale="90000"/>
          </a:bodyPr>
          <a:lstStyle/>
          <a:p>
            <a:r>
              <a:rPr lang="es-MX" b="1" dirty="0"/>
              <a:t>MÉTODOS PARA APLICAR EL CUESTIONARIO</a:t>
            </a:r>
            <a:endParaRPr lang="es-MX" dirty="0"/>
          </a:p>
        </p:txBody>
      </p:sp>
      <p:sp>
        <p:nvSpPr>
          <p:cNvPr id="3" name="Rectángulo 2"/>
          <p:cNvSpPr/>
          <p:nvPr/>
        </p:nvSpPr>
        <p:spPr>
          <a:xfrm>
            <a:off x="1043608" y="1700808"/>
            <a:ext cx="7344816" cy="3970318"/>
          </a:xfrm>
          <a:prstGeom prst="rect">
            <a:avLst/>
          </a:prstGeom>
        </p:spPr>
        <p:txBody>
          <a:bodyPr wrap="square">
            <a:spAutoFit/>
          </a:bodyPr>
          <a:lstStyle/>
          <a:p>
            <a:r>
              <a:rPr lang="es-MX" dirty="0">
                <a:latin typeface="Times New Roman" panose="02020603050405020304" pitchFamily="18" charset="0"/>
              </a:rPr>
              <a:t>El analista de sistemas tiene varias opciones para aplicar el cuestionario, y el método de administración es a menudo determinado por el estado de la empresa. Entre las opciones para aplicar el cuestionario se encuentran las siguientes:</a:t>
            </a:r>
          </a:p>
          <a:p>
            <a:endParaRPr lang="es-MX" dirty="0">
              <a:latin typeface="Times New Roman" panose="02020603050405020304" pitchFamily="18" charset="0"/>
            </a:endParaRPr>
          </a:p>
          <a:p>
            <a:r>
              <a:rPr lang="es-MX" dirty="0">
                <a:latin typeface="Times New Roman" panose="02020603050405020304" pitchFamily="18" charset="0"/>
              </a:rPr>
              <a:t>1. Citar al mismo tiempo a todos los encuestados.</a:t>
            </a:r>
          </a:p>
          <a:p>
            <a:r>
              <a:rPr lang="es-MX" dirty="0">
                <a:latin typeface="Times New Roman" panose="02020603050405020304" pitchFamily="18" charset="0"/>
              </a:rPr>
              <a:t>2. Entregar personalmente los cuestionarios en blanco y recogerlos cuando estén terminados.</a:t>
            </a:r>
          </a:p>
          <a:p>
            <a:r>
              <a:rPr lang="es-MX" dirty="0">
                <a:latin typeface="Times New Roman" panose="02020603050405020304" pitchFamily="18" charset="0"/>
              </a:rPr>
              <a:t>3. Permitir a los encuestados que llenen el cuestionario por sí mismos en su trabajo y que lo dejen en una caja colocada en algún punto central.</a:t>
            </a:r>
          </a:p>
          <a:p>
            <a:r>
              <a:rPr lang="es-MX" dirty="0">
                <a:latin typeface="Times New Roman" panose="02020603050405020304" pitchFamily="18" charset="0"/>
              </a:rPr>
              <a:t>4. Mandar por correo los cuestionarios a los empleados de las sucursales e indicarles una fecha límite, instrucciones y enviarles sobres con envío prepagado para que devuelvan los cuestionarios llenos.</a:t>
            </a:r>
          </a:p>
          <a:p>
            <a:r>
              <a:rPr lang="es-MX" dirty="0">
                <a:latin typeface="Times New Roman" panose="02020603050405020304" pitchFamily="18" charset="0"/>
              </a:rPr>
              <a:t>5. Aplicar el cuestionario a través de correo electrónico o la Web.</a:t>
            </a:r>
            <a:endParaRPr lang="es-MX" dirty="0"/>
          </a:p>
        </p:txBody>
      </p:sp>
    </p:spTree>
    <p:extLst>
      <p:ext uri="{BB962C8B-B14F-4D97-AF65-F5344CB8AC3E}">
        <p14:creationId xmlns:p14="http://schemas.microsoft.com/office/powerpoint/2010/main" val="1944936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LA NECESIDAD DE MUESTREO</a:t>
            </a:r>
          </a:p>
        </p:txBody>
      </p:sp>
      <p:sp>
        <p:nvSpPr>
          <p:cNvPr id="3" name="Rectángulo 2"/>
          <p:cNvSpPr/>
          <p:nvPr/>
        </p:nvSpPr>
        <p:spPr>
          <a:xfrm>
            <a:off x="755576" y="1484785"/>
            <a:ext cx="7704856" cy="4247317"/>
          </a:xfrm>
          <a:prstGeom prst="rect">
            <a:avLst/>
          </a:prstGeom>
        </p:spPr>
        <p:txBody>
          <a:bodyPr wrap="square">
            <a:spAutoFit/>
          </a:bodyPr>
          <a:lstStyle/>
          <a:p>
            <a:pPr algn="just"/>
            <a:r>
              <a:rPr lang="es-MX" dirty="0">
                <a:latin typeface="Times New Roman" panose="02020603050405020304" pitchFamily="18" charset="0"/>
                <a:cs typeface="Times New Roman" panose="02020603050405020304" pitchFamily="18" charset="0"/>
              </a:rPr>
              <a:t>Hay muchas razones por las cuales un analista de sistemas tendría que seleccionar una muestra representativa de datos para examinarla o personas representativas para entrevistarlas, aplicarles un cuestionario u observarlas. Entre estas razones se incluyen:</a:t>
            </a: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just"/>
            <a:r>
              <a:rPr lang="es-MX" dirty="0">
                <a:latin typeface="Times New Roman" panose="02020603050405020304" pitchFamily="18" charset="0"/>
                <a:cs typeface="Times New Roman" panose="02020603050405020304" pitchFamily="18" charset="0"/>
              </a:rPr>
              <a:t>El muestreo ayuda a acelerar el proceso mediante la recopilación de datos seleccionados en lugar de todos los datos de la población entera. Además, el analista de sistemas se ahorra el trabajo de analizar los datos de toda la población.</a:t>
            </a:r>
          </a:p>
        </p:txBody>
      </p:sp>
      <p:sp>
        <p:nvSpPr>
          <p:cNvPr id="4" name="3 Rectángulo"/>
          <p:cNvSpPr/>
          <p:nvPr/>
        </p:nvSpPr>
        <p:spPr>
          <a:xfrm>
            <a:off x="2267744" y="2652223"/>
            <a:ext cx="2448272" cy="85860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dirty="0"/>
              <a:t>Reducir costos</a:t>
            </a:r>
          </a:p>
        </p:txBody>
      </p:sp>
      <p:sp>
        <p:nvSpPr>
          <p:cNvPr id="5" name="4 Rectángulo"/>
          <p:cNvSpPr/>
          <p:nvPr/>
        </p:nvSpPr>
        <p:spPr>
          <a:xfrm>
            <a:off x="5289864" y="2652223"/>
            <a:ext cx="2448272" cy="8630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dirty="0"/>
              <a:t>Acelerar la recopilación de datos</a:t>
            </a:r>
          </a:p>
        </p:txBody>
      </p:sp>
      <p:sp>
        <p:nvSpPr>
          <p:cNvPr id="6" name="5 Rectángulo"/>
          <p:cNvSpPr/>
          <p:nvPr/>
        </p:nvSpPr>
        <p:spPr>
          <a:xfrm>
            <a:off x="2267743" y="3724992"/>
            <a:ext cx="2454381" cy="8606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dirty="0"/>
              <a:t>Mejorar la efectividad</a:t>
            </a:r>
          </a:p>
        </p:txBody>
      </p:sp>
      <p:sp>
        <p:nvSpPr>
          <p:cNvPr id="7" name="6 Rectángulo"/>
          <p:cNvSpPr/>
          <p:nvPr/>
        </p:nvSpPr>
        <p:spPr>
          <a:xfrm>
            <a:off x="5289864" y="3724993"/>
            <a:ext cx="2450488" cy="83823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dirty="0"/>
              <a:t>Reducir la parcialidad</a:t>
            </a:r>
          </a:p>
        </p:txBody>
      </p:sp>
    </p:spTree>
    <p:extLst>
      <p:ext uri="{BB962C8B-B14F-4D97-AF65-F5344CB8AC3E}">
        <p14:creationId xmlns:p14="http://schemas.microsoft.com/office/powerpoint/2010/main" val="2902528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Diseño del Muestreo</a:t>
            </a:r>
          </a:p>
        </p:txBody>
      </p:sp>
      <p:sp>
        <p:nvSpPr>
          <p:cNvPr id="3" name="Rectángulo 2"/>
          <p:cNvSpPr/>
          <p:nvPr/>
        </p:nvSpPr>
        <p:spPr>
          <a:xfrm>
            <a:off x="1331640" y="1628800"/>
            <a:ext cx="6624736" cy="2862322"/>
          </a:xfrm>
          <a:prstGeom prst="rect">
            <a:avLst/>
          </a:prstGeom>
        </p:spPr>
        <p:txBody>
          <a:bodyPr wrap="square">
            <a:spAutoFit/>
          </a:bodyPr>
          <a:lstStyle/>
          <a:p>
            <a:r>
              <a:rPr lang="es-MX" sz="2000" dirty="0">
                <a:latin typeface="Times New Roman" panose="02020603050405020304" pitchFamily="18" charset="0"/>
              </a:rPr>
              <a:t>Un analista de sistemas debe seguir cuatro pasos para diseñar una buena muestra:</a:t>
            </a:r>
          </a:p>
          <a:p>
            <a:endParaRPr lang="es-MX" sz="2000" dirty="0">
              <a:latin typeface="Times New Roman" panose="02020603050405020304" pitchFamily="18" charset="0"/>
            </a:endParaRPr>
          </a:p>
          <a:p>
            <a:r>
              <a:rPr lang="es-MX" sz="2000" dirty="0">
                <a:latin typeface="Times New Roman" panose="02020603050405020304" pitchFamily="18" charset="0"/>
              </a:rPr>
              <a:t>1. Determinar qué datos van a ser recopilados o descritos.</a:t>
            </a:r>
          </a:p>
          <a:p>
            <a:r>
              <a:rPr lang="es-MX" sz="2000" dirty="0">
                <a:latin typeface="Times New Roman" panose="02020603050405020304" pitchFamily="18" charset="0"/>
              </a:rPr>
              <a:t>2. Determinar de qué población se van a tomar muestras.</a:t>
            </a:r>
          </a:p>
          <a:p>
            <a:r>
              <a:rPr lang="es-MX" sz="2000" dirty="0">
                <a:latin typeface="Times New Roman" panose="02020603050405020304" pitchFamily="18" charset="0"/>
              </a:rPr>
              <a:t>3. Escoger el tipo de muestra.</a:t>
            </a:r>
          </a:p>
          <a:p>
            <a:r>
              <a:rPr lang="es-MX" sz="2000" dirty="0">
                <a:latin typeface="Times New Roman" panose="02020603050405020304" pitchFamily="18" charset="0"/>
              </a:rPr>
              <a:t>4. Decidir el tamaño de la muestra.</a:t>
            </a:r>
          </a:p>
          <a:p>
            <a:endParaRPr lang="es-MX" sz="2000" dirty="0">
              <a:latin typeface="Times New Roman" panose="02020603050405020304" pitchFamily="18" charset="0"/>
            </a:endParaRPr>
          </a:p>
          <a:p>
            <a:endParaRPr lang="es-MX" sz="2000" dirty="0"/>
          </a:p>
        </p:txBody>
      </p:sp>
      <p:pic>
        <p:nvPicPr>
          <p:cNvPr id="1026" name="Picture 2" descr="http://www.eyeintheskygroup.com/Azar-Ciencia/Analisis-Estadistico-Juegos-de-Azar/Muestreo-Recoleccion-Datos_archivos/Muestreo%20en%20Juegos%20de%20Azar.jpg"/>
          <p:cNvPicPr>
            <a:picLocks noChangeAspect="1" noChangeArrowheads="1"/>
          </p:cNvPicPr>
          <p:nvPr/>
        </p:nvPicPr>
        <p:blipFill rotWithShape="1">
          <a:blip r:embed="rId2">
            <a:extLst>
              <a:ext uri="{28A0092B-C50C-407E-A947-70E740481C1C}">
                <a14:useLocalDpi xmlns:a14="http://schemas.microsoft.com/office/drawing/2010/main" val="0"/>
              </a:ext>
            </a:extLst>
          </a:blip>
          <a:srcRect l="5686" t="11220" r="8467" b="7592"/>
          <a:stretch/>
        </p:blipFill>
        <p:spPr bwMode="auto">
          <a:xfrm>
            <a:off x="5868145" y="3388287"/>
            <a:ext cx="2456990" cy="271226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067648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4800" y="332656"/>
            <a:ext cx="8534400" cy="758952"/>
          </a:xfrm>
        </p:spPr>
        <p:txBody>
          <a:bodyPr>
            <a:normAutofit fontScale="90000"/>
          </a:bodyPr>
          <a:lstStyle/>
          <a:p>
            <a:r>
              <a:rPr lang="es-MX" b="1" dirty="0">
                <a:latin typeface="Times New Roman" panose="02020603050405020304" pitchFamily="18" charset="0"/>
              </a:rPr>
              <a:t>Cómo determinar qué datos van a ser recopilados o descritos</a:t>
            </a:r>
            <a:endParaRPr lang="es-MX" dirty="0"/>
          </a:p>
        </p:txBody>
      </p:sp>
      <p:sp>
        <p:nvSpPr>
          <p:cNvPr id="3" name="Rectángulo 2"/>
          <p:cNvSpPr/>
          <p:nvPr/>
        </p:nvSpPr>
        <p:spPr>
          <a:xfrm>
            <a:off x="899592" y="1772816"/>
            <a:ext cx="7272808" cy="255454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El analista de sistemas necesita un plan realista sobre lo que se hará con los datos una vez que se hayan recopilado. Si se recopilan, almacenan y analizan datos irrelevantes, sería un desperdicio de tiempo y dinero.</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En este punto los deberes y responsabilidades del analista de sistemas consisten en identificar las variables, atributos y los elementos relacionados con los datos que necesitan recopilarse en la muestra.</a:t>
            </a:r>
          </a:p>
        </p:txBody>
      </p:sp>
    </p:spTree>
    <p:extLst>
      <p:ext uri="{BB962C8B-B14F-4D97-AF65-F5344CB8AC3E}">
        <p14:creationId xmlns:p14="http://schemas.microsoft.com/office/powerpoint/2010/main" val="1928937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1752" y="228600"/>
            <a:ext cx="8590728" cy="824136"/>
          </a:xfrm>
        </p:spPr>
        <p:txBody>
          <a:bodyPr>
            <a:normAutofit fontScale="90000"/>
          </a:bodyPr>
          <a:lstStyle/>
          <a:p>
            <a:r>
              <a:rPr lang="es-MX" b="1" dirty="0"/>
              <a:t>Cómo determinar de qué población se van a tomar muestras</a:t>
            </a:r>
            <a:endParaRPr lang="es-MX" dirty="0"/>
          </a:p>
        </p:txBody>
      </p:sp>
      <p:sp>
        <p:nvSpPr>
          <p:cNvPr id="3" name="2 Rectángulo"/>
          <p:cNvSpPr/>
          <p:nvPr/>
        </p:nvSpPr>
        <p:spPr>
          <a:xfrm>
            <a:off x="683568" y="1556792"/>
            <a:ext cx="7920880" cy="1600438"/>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El analista de sistemas debe determinar la población. Por ejemplo, en el caso de datos reales y concretos, el analista de sistemas tiene que decidir si los últimos dos meses son suficientes para el análisis, o si éste requiere un año completo de informes.</a:t>
            </a:r>
          </a:p>
          <a:p>
            <a:endParaRPr lang="es-MX"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531" t="15306" r="30457" b="30711"/>
          <a:stretch/>
        </p:blipFill>
        <p:spPr bwMode="auto">
          <a:xfrm>
            <a:off x="1583668" y="2852936"/>
            <a:ext cx="6120680" cy="33164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804486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Cómo seleccionar el tipo de muestra</a:t>
            </a:r>
            <a:endParaRPr lang="es-MX" dirty="0"/>
          </a:p>
        </p:txBody>
      </p:sp>
      <p:sp>
        <p:nvSpPr>
          <p:cNvPr id="3" name="2 Rectángulo"/>
          <p:cNvSpPr/>
          <p:nvPr/>
        </p:nvSpPr>
        <p:spPr>
          <a:xfrm>
            <a:off x="345501" y="1124744"/>
            <a:ext cx="8496944" cy="5601533"/>
          </a:xfrm>
          <a:prstGeom prst="rect">
            <a:avLst/>
          </a:prstGeom>
        </p:spPr>
        <p:txBody>
          <a:bodyPr wrap="square">
            <a:spAutoFit/>
          </a:bodyPr>
          <a:lstStyle/>
          <a:p>
            <a:endParaRPr lang="es-MX" dirty="0"/>
          </a:p>
          <a:p>
            <a:pPr algn="just"/>
            <a:r>
              <a:rPr lang="es-MX" sz="2000" dirty="0">
                <a:latin typeface="Times New Roman" panose="02020603050405020304" pitchFamily="18" charset="0"/>
                <a:cs typeface="Times New Roman" panose="02020603050405020304" pitchFamily="18" charset="0"/>
              </a:rPr>
              <a:t>El analista de sistemas puede utilizar uno de cuatro tipos principales de muestras. Dichos ejemplos son de conveniencia, intencional, simple y compleja.</a:t>
            </a:r>
          </a:p>
          <a:p>
            <a:pPr algn="just"/>
            <a:endParaRPr lang="es-MX" sz="2000" dirty="0">
              <a:latin typeface="Times New Roman" panose="02020603050405020304" pitchFamily="18" charset="0"/>
              <a:cs typeface="Times New Roman" panose="02020603050405020304" pitchFamily="18" charset="0"/>
            </a:endParaRPr>
          </a:p>
          <a:p>
            <a:pPr algn="just"/>
            <a:r>
              <a:rPr lang="es-MX" sz="2000" b="1" dirty="0">
                <a:latin typeface="Times New Roman" panose="02020603050405020304" pitchFamily="18" charset="0"/>
                <a:cs typeface="Times New Roman" panose="02020603050405020304" pitchFamily="18" charset="0"/>
              </a:rPr>
              <a:t> Las muestras de conveniencia </a:t>
            </a:r>
            <a:r>
              <a:rPr lang="es-MX" sz="2000" dirty="0">
                <a:latin typeface="Times New Roman" panose="02020603050405020304" pitchFamily="18" charset="0"/>
                <a:cs typeface="Times New Roman" panose="02020603050405020304" pitchFamily="18" charset="0"/>
              </a:rPr>
              <a:t>son irrestrictas y no probabilísticas. Por ejemplo, a una muestra se le podría llamar de conveniencia si el analista de sistemas publica un aviso en la intranet de la compañía pidiendo a todos los interesados en los nuevos informes del desempeño de las ventas asistir a una reunión el martes 12 a la 1 </a:t>
            </a:r>
            <a:r>
              <a:rPr lang="es-MX" sz="2000" dirty="0" err="1">
                <a:latin typeface="Times New Roman" panose="02020603050405020304" pitchFamily="18" charset="0"/>
                <a:cs typeface="Times New Roman" panose="02020603050405020304" pitchFamily="18" charset="0"/>
              </a:rPr>
              <a:t>p.M.</a:t>
            </a:r>
            <a:r>
              <a:rPr lang="es-MX" sz="2000" dirty="0">
                <a:latin typeface="Times New Roman" panose="02020603050405020304" pitchFamily="18" charset="0"/>
                <a:cs typeface="Times New Roman" panose="02020603050405020304" pitchFamily="18" charset="0"/>
              </a:rPr>
              <a:t> Obviamente, esta muestra es la más fácil de obtener, pero también es la menos confiable. </a:t>
            </a:r>
          </a:p>
          <a:p>
            <a:pPr algn="just"/>
            <a:endParaRPr lang="es-MX" sz="2000" dirty="0">
              <a:latin typeface="Times New Roman" panose="02020603050405020304" pitchFamily="18" charset="0"/>
              <a:cs typeface="Times New Roman" panose="02020603050405020304" pitchFamily="18" charset="0"/>
            </a:endParaRPr>
          </a:p>
          <a:p>
            <a:pPr algn="just"/>
            <a:r>
              <a:rPr lang="es-MX" sz="2000" b="1" dirty="0">
                <a:latin typeface="Times New Roman" panose="02020603050405020304" pitchFamily="18" charset="0"/>
                <a:cs typeface="Times New Roman" panose="02020603050405020304" pitchFamily="18" charset="0"/>
              </a:rPr>
              <a:t>Una muestra intencional</a:t>
            </a:r>
            <a:r>
              <a:rPr lang="es-MX" sz="2000" dirty="0">
                <a:latin typeface="Times New Roman" panose="02020603050405020304" pitchFamily="18" charset="0"/>
                <a:cs typeface="Times New Roman" panose="02020603050405020304" pitchFamily="18" charset="0"/>
              </a:rPr>
              <a:t> se basa en juicios. Un analista de sistemas puede escoger un grupo de personas que parezca conocedor e interesado en el nuevo sistema de información. Aquí el analista de sistemas basa la muestra en criterios [el conocimiento y el interés en el nuevo sistema), pero sigue siendo una muestra no probabilística. Por lo tanto, el muestreo intencional sólo es moderadamente confiable.</a:t>
            </a:r>
          </a:p>
          <a:p>
            <a:pPr algn="just"/>
            <a:endParaRPr lang="es-MX"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936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Cómo seleccionar el tipo de muestra</a:t>
            </a:r>
            <a:endParaRPr lang="es-MX" dirty="0"/>
          </a:p>
        </p:txBody>
      </p:sp>
      <p:sp>
        <p:nvSpPr>
          <p:cNvPr id="3" name="2 Rectángulo"/>
          <p:cNvSpPr/>
          <p:nvPr/>
        </p:nvSpPr>
        <p:spPr>
          <a:xfrm>
            <a:off x="683568" y="1412776"/>
            <a:ext cx="7848872" cy="440120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Si decide realizar una muestra aleatoria </a:t>
            </a:r>
            <a:r>
              <a:rPr lang="es-MX" sz="2000" b="1" dirty="0">
                <a:latin typeface="Times New Roman" panose="02020603050405020304" pitchFamily="18" charset="0"/>
                <a:cs typeface="Times New Roman" panose="02020603050405020304" pitchFamily="18" charset="0"/>
              </a:rPr>
              <a:t>simple, </a:t>
            </a:r>
            <a:r>
              <a:rPr lang="es-MX" sz="2000" dirty="0">
                <a:latin typeface="Times New Roman" panose="02020603050405020304" pitchFamily="18" charset="0"/>
                <a:cs typeface="Times New Roman" panose="02020603050405020304" pitchFamily="18" charset="0"/>
              </a:rPr>
              <a:t>necesita obtener una lista numerada de la población para cerciorarse de que cada documento o persona en la población tienen la misma oportunidad de ser seleccionados. Por lo regular este paso no es práctico, sobre todo cuando el muestreo se realiza con documentos e informes. </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Las muestras aleatorias </a:t>
            </a:r>
            <a:r>
              <a:rPr lang="es-MX" sz="2000" b="1" dirty="0">
                <a:latin typeface="Times New Roman" panose="02020603050405020304" pitchFamily="18" charset="0"/>
                <a:cs typeface="Times New Roman" panose="02020603050405020304" pitchFamily="18" charset="0"/>
              </a:rPr>
              <a:t>complejas </a:t>
            </a:r>
            <a:r>
              <a:rPr lang="es-MX" sz="2000" dirty="0">
                <a:latin typeface="Times New Roman" panose="02020603050405020304" pitchFamily="18" charset="0"/>
                <a:cs typeface="Times New Roman" panose="02020603050405020304" pitchFamily="18" charset="0"/>
              </a:rPr>
              <a:t>más apropiadas para el analista de sistemas son: 1] el muestreo sistemático, 2} el muestreo estratificado y 3} el muestreo por conglomerados.</a:t>
            </a: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99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Cómo seleccionar el tipo de muestra</a:t>
            </a:r>
            <a:endParaRPr lang="es-MX" dirty="0"/>
          </a:p>
        </p:txBody>
      </p:sp>
      <p:sp>
        <p:nvSpPr>
          <p:cNvPr id="3" name="2 Rectángulo"/>
          <p:cNvSpPr/>
          <p:nvPr/>
        </p:nvSpPr>
        <p:spPr>
          <a:xfrm>
            <a:off x="971600" y="1484784"/>
            <a:ext cx="7776864" cy="2554545"/>
          </a:xfrm>
          <a:prstGeom prst="rect">
            <a:avLst/>
          </a:prstGeom>
        </p:spPr>
        <p:txBody>
          <a:bodyPr wrap="square">
            <a:spAutoFit/>
          </a:bodyPr>
          <a:lstStyle/>
          <a:p>
            <a:pPr marL="342900" indent="-342900">
              <a:buFont typeface="+mj-lt"/>
              <a:buAutoNum type="arabicPeriod"/>
            </a:pPr>
            <a:r>
              <a:rPr lang="es-MX" sz="2000" b="1" dirty="0">
                <a:latin typeface="Times New Roman" panose="02020603050405020304" pitchFamily="18" charset="0"/>
                <a:cs typeface="Times New Roman" panose="02020603050405020304" pitchFamily="18" charset="0"/>
              </a:rPr>
              <a:t>Muestreo sistemático</a:t>
            </a:r>
            <a:r>
              <a:rPr lang="es-MX" sz="2000" dirty="0">
                <a:latin typeface="Times New Roman" panose="02020603050405020304" pitchFamily="18" charset="0"/>
                <a:cs typeface="Times New Roman" panose="02020603050405020304" pitchFamily="18" charset="0"/>
              </a:rPr>
              <a:t>, el analista de sistemas podría, por ejemplo, escoger a cada n-</a:t>
            </a:r>
            <a:r>
              <a:rPr lang="es-MX" sz="2000" dirty="0" err="1">
                <a:latin typeface="Times New Roman" panose="02020603050405020304" pitchFamily="18" charset="0"/>
                <a:cs typeface="Times New Roman" panose="02020603050405020304" pitchFamily="18" charset="0"/>
              </a:rPr>
              <a:t>ésima</a:t>
            </a:r>
            <a:r>
              <a:rPr lang="es-MX" sz="2000" dirty="0">
                <a:latin typeface="Times New Roman" panose="02020603050405020304" pitchFamily="18" charset="0"/>
                <a:cs typeface="Times New Roman" panose="02020603050405020304" pitchFamily="18" charset="0"/>
              </a:rPr>
              <a:t> persona de una lista de empleados de una compañía. Sin embargo, este método tiene ciertas desventajas. No sería conveniente para seleccionar todos los </a:t>
            </a:r>
            <a:r>
              <a:rPr lang="es-MX" sz="2000" dirty="0" err="1">
                <a:latin typeface="Times New Roman" panose="02020603050405020304" pitchFamily="18" charset="0"/>
                <a:cs typeface="Times New Roman" panose="02020603050405020304" pitchFamily="18" charset="0"/>
              </a:rPr>
              <a:t>nésimos</a:t>
            </a:r>
            <a:r>
              <a:rPr lang="es-MX" sz="2000" dirty="0">
                <a:latin typeface="Times New Roman" panose="02020603050405020304" pitchFamily="18" charset="0"/>
                <a:cs typeface="Times New Roman" panose="02020603050405020304" pitchFamily="18" charset="0"/>
              </a:rPr>
              <a:t> días para una muestra debido al potencial problema de la periodicidad. Además, el analista de sistemas no usaría este enfoque si la lista fuera ordenada (por ejemplo, una lista de bancos del más pequeño al más grande), debido a que se podría producir una muestra sesgada. </a:t>
            </a:r>
          </a:p>
        </p:txBody>
      </p:sp>
    </p:spTree>
    <p:extLst>
      <p:ext uri="{BB962C8B-B14F-4D97-AF65-F5344CB8AC3E}">
        <p14:creationId xmlns:p14="http://schemas.microsoft.com/office/powerpoint/2010/main" val="345573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Cómo seleccionar el tipo de muestra</a:t>
            </a:r>
            <a:endParaRPr lang="es-MX" dirty="0"/>
          </a:p>
        </p:txBody>
      </p:sp>
      <p:sp>
        <p:nvSpPr>
          <p:cNvPr id="3" name="2 Rectángulo"/>
          <p:cNvSpPr/>
          <p:nvPr/>
        </p:nvSpPr>
        <p:spPr>
          <a:xfrm>
            <a:off x="859167" y="1628800"/>
            <a:ext cx="7632848" cy="3785652"/>
          </a:xfrm>
          <a:prstGeom prst="rect">
            <a:avLst/>
          </a:prstGeom>
        </p:spPr>
        <p:txBody>
          <a:bodyPr wrap="square">
            <a:spAutoFit/>
          </a:bodyPr>
          <a:lstStyle/>
          <a:p>
            <a:pPr algn="just"/>
            <a:r>
              <a:rPr lang="es-MX" sz="2000" b="1" dirty="0">
                <a:latin typeface="Times New Roman" panose="02020603050405020304" pitchFamily="18" charset="0"/>
                <a:cs typeface="Times New Roman" panose="02020603050405020304" pitchFamily="18" charset="0"/>
              </a:rPr>
              <a:t>2. La estratificación </a:t>
            </a:r>
            <a:r>
              <a:rPr lang="es-MX" sz="2000" dirty="0">
                <a:latin typeface="Times New Roman" panose="02020603050405020304" pitchFamily="18" charset="0"/>
                <a:cs typeface="Times New Roman" panose="02020603050405020304" pitchFamily="18" charset="0"/>
              </a:rPr>
              <a:t>es el proceso de identificar las subpoblaciones, o estratos, y después seleccionar objetos o personas para el muestreo en estas subpoblaciones. Con frecuencia, este proceso es fundamental si el analista de sistemas desea recopilar eficazmente los datos. Por ejemplo, si necesita obtener opiniones de un gran número de empleados de los diferentes niveles de la organización, el muestreo sistemático podría seleccionar un número desproporcionado de empleados del nivel de control operativo. Una muestra estratificada balancearía esta situación. La estratificación también es apropiada cuando el analista de sistemas necesita utilizar distintos métodos para recopilar datos de diferentes subgrupos.</a:t>
            </a:r>
          </a:p>
          <a:p>
            <a:pPr algn="just"/>
            <a:endParaRPr lang="es-MX"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47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Cómo decidir el tamaño de la muestra</a:t>
            </a:r>
            <a:endParaRPr lang="es-MX" dirty="0"/>
          </a:p>
        </p:txBody>
      </p:sp>
      <p:sp>
        <p:nvSpPr>
          <p:cNvPr id="3" name="2 Rectángulo"/>
          <p:cNvSpPr/>
          <p:nvPr/>
        </p:nvSpPr>
        <p:spPr>
          <a:xfrm>
            <a:off x="755576" y="1628800"/>
            <a:ext cx="7848872" cy="347787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Obviamente, si todos en la población vieran el mundo de la misma forma o si cada uno de los documentos contuviera exactamente la misma información que los demás, sería suficiente un tamaño de uno para la muestra. Puesto que éste no es el caso, es necesario establecer un tamaño de muestra mayor que uno pero menor que el tamaño mismo de la población. </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Es importante recordar que en el muestreo es de mayor importancia el número absoluto que el porcentaje de la población. Podemos obtener resultados satisfactorios con un muestreo de 20 personas de 200 o con uno de 20 de 2,000,000</a:t>
            </a:r>
          </a:p>
        </p:txBody>
      </p:sp>
    </p:spTree>
    <p:extLst>
      <p:ext uri="{BB962C8B-B14F-4D97-AF65-F5344CB8AC3E}">
        <p14:creationId xmlns:p14="http://schemas.microsoft.com/office/powerpoint/2010/main" val="274005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Rectángulo"/>
          <p:cNvSpPr/>
          <p:nvPr/>
        </p:nvSpPr>
        <p:spPr>
          <a:xfrm>
            <a:off x="395536" y="1450525"/>
            <a:ext cx="8496944" cy="4031873"/>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El analista de sistemas debe seguir siete pasos, algunos de los cuales son juicios subjetivos, para determinar el tamaño de la muestra requerido:</a:t>
            </a: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r>
              <a:rPr lang="es-MX" dirty="0"/>
              <a:t>Determinar el tamaño de la muestra necesario, </a:t>
            </a:r>
            <a:r>
              <a:rPr lang="es-MX" i="1" dirty="0"/>
              <a:t>n, </a:t>
            </a:r>
            <a:r>
              <a:rPr lang="es-MX" dirty="0"/>
              <a:t>con la fórmula siguiente:</a:t>
            </a:r>
          </a:p>
          <a:p>
            <a:r>
              <a:rPr lang="es-MX" dirty="0"/>
              <a:t>	</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552" t="53731" r="53218" b="40112"/>
          <a:stretch/>
        </p:blipFill>
        <p:spPr bwMode="auto">
          <a:xfrm>
            <a:off x="3779912" y="5481270"/>
            <a:ext cx="2220681" cy="832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xmlns="">
                <a:solidFill>
                  <a:schemeClr val="accent1"/>
                </a:solidFill>
              </a14:hiddenFill>
            </a:ext>
          </a:extLst>
        </p:spPr>
      </p:pic>
      <p:sp>
        <p:nvSpPr>
          <p:cNvPr id="4" name="3 Rectángulo"/>
          <p:cNvSpPr/>
          <p:nvPr/>
        </p:nvSpPr>
        <p:spPr>
          <a:xfrm>
            <a:off x="500162" y="2299533"/>
            <a:ext cx="8320310" cy="24256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342900" indent="-342900" algn="just">
              <a:buFont typeface="+mj-lt"/>
              <a:buAutoNum type="arabicPeriod"/>
            </a:pPr>
            <a:r>
              <a:rPr lang="es-MX" dirty="0">
                <a:latin typeface="Times New Roman" panose="02020603050405020304" pitchFamily="18" charset="0"/>
                <a:cs typeface="Times New Roman" panose="02020603050405020304" pitchFamily="18" charset="0"/>
              </a:rPr>
              <a:t>Determinar el atributo (en este caso, el tipo de errores que se buscará).</a:t>
            </a:r>
          </a:p>
          <a:p>
            <a:pPr marL="457200" indent="-457200" algn="just">
              <a:buFont typeface="+mj-lt"/>
              <a:buAutoNum type="arabicPeriod"/>
            </a:pPr>
            <a:r>
              <a:rPr lang="es-MX" dirty="0">
                <a:latin typeface="Times New Roman" panose="02020603050405020304" pitchFamily="18" charset="0"/>
                <a:cs typeface="Times New Roman" panose="02020603050405020304" pitchFamily="18" charset="0"/>
              </a:rPr>
              <a:t>Localizar la base de datos o informes en los cuales se puede encontrar el atributo.</a:t>
            </a:r>
          </a:p>
          <a:p>
            <a:pPr marL="457200" indent="-457200" algn="just">
              <a:buFont typeface="+mj-lt"/>
              <a:buAutoNum type="arabicPeriod"/>
            </a:pPr>
            <a:r>
              <a:rPr lang="es-MX" dirty="0">
                <a:latin typeface="Times New Roman" panose="02020603050405020304" pitchFamily="18" charset="0"/>
                <a:cs typeface="Times New Roman" panose="02020603050405020304" pitchFamily="18" charset="0"/>
              </a:rPr>
              <a:t>Examinar el atributo. Calcular </a:t>
            </a:r>
            <a:r>
              <a:rPr lang="es-MX" i="1" dirty="0">
                <a:latin typeface="Times New Roman" panose="02020603050405020304" pitchFamily="18" charset="0"/>
                <a:cs typeface="Times New Roman" panose="02020603050405020304" pitchFamily="18" charset="0"/>
              </a:rPr>
              <a:t>p, </a:t>
            </a:r>
            <a:r>
              <a:rPr lang="es-MX" dirty="0">
                <a:latin typeface="Times New Roman" panose="02020603050405020304" pitchFamily="18" charset="0"/>
                <a:cs typeface="Times New Roman" panose="02020603050405020304" pitchFamily="18" charset="0"/>
              </a:rPr>
              <a:t>la proporción de población que tiene el atributo.</a:t>
            </a:r>
          </a:p>
          <a:p>
            <a:pPr marL="457200" indent="-457200" algn="just">
              <a:buFont typeface="+mj-lt"/>
              <a:buAutoNum type="arabicPeriod"/>
            </a:pPr>
            <a:r>
              <a:rPr lang="es-MX" dirty="0">
                <a:latin typeface="Times New Roman" panose="02020603050405020304" pitchFamily="18" charset="0"/>
                <a:cs typeface="Times New Roman" panose="02020603050405020304" pitchFamily="18" charset="0"/>
              </a:rPr>
              <a:t>Tomar la decisión subjetiva con respecto a la estimación del intervalo aceptable, </a:t>
            </a:r>
            <a:r>
              <a:rPr lang="es-MX" i="1" dirty="0">
                <a:latin typeface="Times New Roman" panose="02020603050405020304" pitchFamily="18" charset="0"/>
                <a:cs typeface="Times New Roman" panose="02020603050405020304" pitchFamily="18" charset="0"/>
              </a:rPr>
              <a:t>i.</a:t>
            </a:r>
          </a:p>
          <a:p>
            <a:pPr marL="457200" indent="-457200" algn="just">
              <a:buFont typeface="+mj-lt"/>
              <a:buAutoNum type="arabicPeriod"/>
            </a:pPr>
            <a:r>
              <a:rPr lang="es-MX" dirty="0">
                <a:latin typeface="Times New Roman" panose="02020603050405020304" pitchFamily="18" charset="0"/>
                <a:cs typeface="Times New Roman" panose="02020603050405020304" pitchFamily="18" charset="0"/>
              </a:rPr>
              <a:t>Seleccionar el nivel de confianza y buscar el coeficiente de confianza (valor </a:t>
            </a:r>
            <a:r>
              <a:rPr lang="es-MX" i="1" dirty="0">
                <a:latin typeface="Times New Roman" panose="02020603050405020304" pitchFamily="18" charset="0"/>
                <a:cs typeface="Times New Roman" panose="02020603050405020304" pitchFamily="18" charset="0"/>
              </a:rPr>
              <a:t>z) </a:t>
            </a:r>
            <a:r>
              <a:rPr lang="es-MX" dirty="0">
                <a:latin typeface="Times New Roman" panose="02020603050405020304" pitchFamily="18" charset="0"/>
                <a:cs typeface="Times New Roman" panose="02020603050405020304" pitchFamily="18" charset="0"/>
              </a:rPr>
              <a:t>en una tabla.</a:t>
            </a:r>
          </a:p>
          <a:p>
            <a:pPr marL="457200" indent="-457200" algn="just">
              <a:buFont typeface="+mj-lt"/>
              <a:buAutoNum type="arabicPeriod"/>
            </a:pPr>
            <a:r>
              <a:rPr lang="es-MX" dirty="0">
                <a:latin typeface="Times New Roman" panose="02020603050405020304" pitchFamily="18" charset="0"/>
                <a:cs typeface="Times New Roman" panose="02020603050405020304" pitchFamily="18" charset="0"/>
              </a:rPr>
              <a:t>Calcular </a:t>
            </a:r>
            <a:r>
              <a:rPr lang="es-MX" i="1" dirty="0" err="1">
                <a:latin typeface="Times New Roman" panose="02020603050405020304" pitchFamily="18" charset="0"/>
                <a:cs typeface="Times New Roman" panose="02020603050405020304" pitchFamily="18" charset="0"/>
              </a:rPr>
              <a:t>crp</a:t>
            </a:r>
            <a:r>
              <a:rPr lang="es-MX" i="1" dirty="0">
                <a:latin typeface="Times New Roman" panose="02020603050405020304" pitchFamily="18" charset="0"/>
                <a:cs typeface="Times New Roman" panose="02020603050405020304" pitchFamily="18" charset="0"/>
              </a:rPr>
              <a:t>, </a:t>
            </a:r>
            <a:r>
              <a:rPr lang="es-MX" dirty="0">
                <a:latin typeface="Times New Roman" panose="02020603050405020304" pitchFamily="18" charset="0"/>
                <a:cs typeface="Times New Roman" panose="02020603050405020304" pitchFamily="18" charset="0"/>
              </a:rPr>
              <a:t>el error estándar de la proporción, de la siguiente manera: </a:t>
            </a:r>
          </a:p>
        </p:txBody>
      </p:sp>
    </p:spTree>
    <p:extLst>
      <p:ext uri="{BB962C8B-B14F-4D97-AF65-F5344CB8AC3E}">
        <p14:creationId xmlns:p14="http://schemas.microsoft.com/office/powerpoint/2010/main" val="804050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Ejemplo </a:t>
            </a:r>
          </a:p>
        </p:txBody>
      </p:sp>
      <p:sp>
        <p:nvSpPr>
          <p:cNvPr id="3" name="2 Rectángulo"/>
          <p:cNvSpPr/>
          <p:nvPr/>
        </p:nvSpPr>
        <p:spPr>
          <a:xfrm>
            <a:off x="395536" y="1412777"/>
            <a:ext cx="8424936" cy="4678204"/>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Los pasos anteriores se pueden describir mejor mediante un ejemplo. Suponga que la A. </a:t>
            </a:r>
            <a:r>
              <a:rPr lang="es-MX" sz="2000" dirty="0" err="1">
                <a:latin typeface="Times New Roman" panose="02020603050405020304" pitchFamily="18" charset="0"/>
                <a:cs typeface="Times New Roman" panose="02020603050405020304" pitchFamily="18" charset="0"/>
              </a:rPr>
              <a:t>Sembly</a:t>
            </a:r>
            <a:r>
              <a:rPr lang="es-MX" sz="2000" dirty="0">
                <a:latin typeface="Times New Roman" panose="02020603050405020304" pitchFamily="18" charset="0"/>
                <a:cs typeface="Times New Roman" panose="02020603050405020304" pitchFamily="18" charset="0"/>
              </a:rPr>
              <a:t> Company, un fabricante a gran escala de productos de estantería, le pide que determine qué porcentaje de pedidos contiene errores. Usted acepta este trabajo y realiza los pasos siguientes:</a:t>
            </a:r>
          </a:p>
          <a:p>
            <a:pPr algn="just"/>
            <a:endParaRPr lang="es-MX" sz="20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MX" sz="2000" dirty="0">
                <a:latin typeface="Times New Roman" panose="02020603050405020304" pitchFamily="18" charset="0"/>
                <a:cs typeface="Times New Roman" panose="02020603050405020304" pitchFamily="18" charset="0"/>
              </a:rPr>
              <a:t>Determina que buscará los pedidos que contienen errores en nombres, direcciones, cantidades o en números de modelo.</a:t>
            </a:r>
          </a:p>
          <a:p>
            <a:pPr marL="342900" indent="-342900" algn="just">
              <a:buFont typeface="+mj-lt"/>
              <a:buAutoNum type="arabicPeriod"/>
            </a:pPr>
            <a:r>
              <a:rPr lang="es-MX" sz="2000" dirty="0">
                <a:latin typeface="Times New Roman" panose="02020603050405020304" pitchFamily="18" charset="0"/>
                <a:cs typeface="Times New Roman" panose="02020603050405020304" pitchFamily="18" charset="0"/>
              </a:rPr>
              <a:t>Localiza copias de los formularios de pedido de los últimos seis meses.</a:t>
            </a:r>
          </a:p>
          <a:p>
            <a:pPr marL="342900" indent="-342900" algn="just">
              <a:buFont typeface="+mj-lt"/>
              <a:buAutoNum type="arabicPeriod"/>
            </a:pPr>
            <a:r>
              <a:rPr lang="es-MX" sz="2000" dirty="0">
                <a:latin typeface="Times New Roman" panose="02020603050405020304" pitchFamily="18" charset="0"/>
                <a:cs typeface="Times New Roman" panose="02020603050405020304" pitchFamily="18" charset="0"/>
              </a:rPr>
              <a:t>Examina algunos de los formularios de pedido y concluye que solamente 5 por ciento (0.05) contiene errores.</a:t>
            </a:r>
          </a:p>
          <a:p>
            <a:pPr marL="342900" indent="-342900" algn="just">
              <a:buFont typeface="+mj-lt"/>
              <a:buAutoNum type="arabicPeriod"/>
            </a:pPr>
            <a:r>
              <a:rPr lang="es-MX" sz="2000" dirty="0">
                <a:latin typeface="Times New Roman" panose="02020603050405020304" pitchFamily="18" charset="0"/>
                <a:cs typeface="Times New Roman" panose="02020603050405020304" pitchFamily="18" charset="0"/>
              </a:rPr>
              <a:t>Toma una decisión subjetiva respecto a que la estimación del intervalo aceptable será ±0.02.</a:t>
            </a:r>
          </a:p>
          <a:p>
            <a:pPr marL="342900" indent="-342900" algn="just">
              <a:buFont typeface="+mj-lt"/>
              <a:buAutoNum type="arabicPeriod"/>
            </a:pPr>
            <a:r>
              <a:rPr lang="es-MX" sz="2000" dirty="0">
                <a:latin typeface="Times New Roman" panose="02020603050405020304" pitchFamily="18" charset="0"/>
                <a:cs typeface="Times New Roman" panose="02020603050405020304" pitchFamily="18" charset="0"/>
              </a:rPr>
              <a:t>Selecciona un nivel de confianza de 95 por ciento. Busca el coeficiente de confianza (valor z). El valor z es igual a 1.96.</a:t>
            </a:r>
            <a:endParaRPr lang="es-MX" dirty="0"/>
          </a:p>
          <a:p>
            <a:endParaRPr lang="es-MX" dirty="0"/>
          </a:p>
        </p:txBody>
      </p:sp>
    </p:spTree>
    <p:extLst>
      <p:ext uri="{BB962C8B-B14F-4D97-AF65-F5344CB8AC3E}">
        <p14:creationId xmlns:p14="http://schemas.microsoft.com/office/powerpoint/2010/main" val="918129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Ejemplo</a:t>
            </a:r>
          </a:p>
        </p:txBody>
      </p:sp>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733" t="77612" r="51855" b="13060"/>
          <a:stretch/>
        </p:blipFill>
        <p:spPr bwMode="auto">
          <a:xfrm>
            <a:off x="3203848" y="1628800"/>
            <a:ext cx="2448272" cy="737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3 Rectángulo"/>
          <p:cNvSpPr/>
          <p:nvPr/>
        </p:nvSpPr>
        <p:spPr>
          <a:xfrm>
            <a:off x="395536" y="1484784"/>
            <a:ext cx="8352928" cy="5632311"/>
          </a:xfrm>
          <a:prstGeom prst="rect">
            <a:avLst/>
          </a:prstGeom>
        </p:spPr>
        <p:txBody>
          <a:bodyPr wrap="square">
            <a:spAutoFit/>
          </a:bodyPr>
          <a:lstStyle/>
          <a:p>
            <a:pPr algn="just"/>
            <a:r>
              <a:rPr lang="es-MX" dirty="0"/>
              <a:t>6. </a:t>
            </a:r>
            <a:r>
              <a:rPr lang="es-MX" sz="2000" dirty="0">
                <a:latin typeface="Times New Roman" panose="02020603050405020304" pitchFamily="18" charset="0"/>
                <a:cs typeface="Times New Roman" panose="02020603050405020304" pitchFamily="18" charset="0"/>
              </a:rPr>
              <a:t>Calcula </a:t>
            </a:r>
            <a:r>
              <a:rPr lang="es-MX" sz="2000" i="1" dirty="0" err="1">
                <a:latin typeface="Times New Roman" panose="02020603050405020304" pitchFamily="18" charset="0"/>
                <a:cs typeface="Times New Roman" panose="02020603050405020304" pitchFamily="18" charset="0"/>
              </a:rPr>
              <a:t>ap</a:t>
            </a:r>
            <a:r>
              <a:rPr lang="es-MX" sz="2000" i="1" dirty="0">
                <a:latin typeface="Times New Roman" panose="02020603050405020304" pitchFamily="18" charset="0"/>
                <a:cs typeface="Times New Roman" panose="02020603050405020304" pitchFamily="18" charset="0"/>
              </a:rPr>
              <a:t> </a:t>
            </a:r>
            <a:r>
              <a:rPr lang="es-MX" sz="2000" dirty="0">
                <a:latin typeface="Times New Roman" panose="02020603050405020304" pitchFamily="18" charset="0"/>
                <a:cs typeface="Times New Roman" panose="02020603050405020304" pitchFamily="18" charset="0"/>
              </a:rPr>
              <a:t>de la siguiente manera:</a:t>
            </a: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7. Determina el tamaño de la muestra necesario, </a:t>
            </a:r>
            <a:r>
              <a:rPr lang="es-MX" sz="2000" i="1" dirty="0">
                <a:latin typeface="Times New Roman" panose="02020603050405020304" pitchFamily="18" charset="0"/>
                <a:cs typeface="Times New Roman" panose="02020603050405020304" pitchFamily="18" charset="0"/>
              </a:rPr>
              <a:t>n, </a:t>
            </a:r>
            <a:r>
              <a:rPr lang="es-MX" sz="2000" dirty="0">
                <a:latin typeface="Times New Roman" panose="02020603050405020304" pitchFamily="18" charset="0"/>
                <a:cs typeface="Times New Roman" panose="02020603050405020304" pitchFamily="18" charset="0"/>
              </a:rPr>
              <a:t>de la siguiente manera:</a:t>
            </a:r>
          </a:p>
          <a:p>
            <a:pPr algn="just"/>
            <a:endParaRPr lang="es-MX" sz="2000" dirty="0">
              <a:latin typeface="Times New Roman" panose="02020603050405020304" pitchFamily="18" charset="0"/>
              <a:cs typeface="Times New Roman" panose="02020603050405020304" pitchFamily="18" charset="0"/>
            </a:endParaRPr>
          </a:p>
          <a:p>
            <a:endParaRPr lang="es-MX" sz="2000" dirty="0"/>
          </a:p>
          <a:p>
            <a:endParaRPr lang="es-MX" sz="2000" dirty="0"/>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La conclusión, entonces, es establecer en 458 el tamaño de la muestra. Obviamente, un  nivel de confianza mayor o una estimación del intervalo aceptable más pequeña requerirían un tamaño de muestra más grande. Si mantenemos la misma estimación del intervalo aceptable pero aumentamos el nivel de confianza a 99 por ciento (con un valor z de 2.58), el tamaño necesario de la muestra será 1,827, una cifra mucho más grande que la de 458 que decidimos originalmente para la muestra.</a:t>
            </a:r>
          </a:p>
          <a:p>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a:p>
            <a:pPr algn="just"/>
            <a:endParaRPr lang="es-MX" sz="20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624" t="61381" r="41365" b="27612"/>
          <a:stretch/>
        </p:blipFill>
        <p:spPr bwMode="auto">
          <a:xfrm>
            <a:off x="2359374" y="2852936"/>
            <a:ext cx="4425251" cy="80521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932539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332656"/>
            <a:ext cx="8534400" cy="758952"/>
          </a:xfrm>
        </p:spPr>
        <p:txBody>
          <a:bodyPr>
            <a:normAutofit fontScale="90000"/>
          </a:bodyPr>
          <a:lstStyle/>
          <a:p>
            <a:r>
              <a:rPr lang="es-MX" b="1" dirty="0"/>
              <a:t>Cómo determinar el tamaño de la muestra al entrevistar</a:t>
            </a:r>
            <a:r>
              <a:rPr lang="es-MX" dirty="0"/>
              <a:t> </a:t>
            </a:r>
          </a:p>
        </p:txBody>
      </p:sp>
      <p:sp>
        <p:nvSpPr>
          <p:cNvPr id="3" name="2 Rectángulo"/>
          <p:cNvSpPr/>
          <p:nvPr/>
        </p:nvSpPr>
        <p:spPr>
          <a:xfrm>
            <a:off x="611560" y="1412776"/>
            <a:ext cx="8208912" cy="5016758"/>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No hay una fórmula mágica que le ayude al analista de sistemas a establecer el tamaño de la muestra para entrevistar. La principal variable que determina a cuántas personas debe entrevistar a profundidad el analista de sistemas es el tiempo que dura una entrevista. Una verdadera entrevista a fondo y una entrevista de seguimiento toman mucho tiempo del entrevistador y el entrevistado.</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Una buena regla general es entrevistar a por lo menos tres personas de cada nivel de la organización y por lo menos a una de cada área funcional de la organización [como se describió en el capítulo 2) que estarán involucradas directamente con un sistema nuevo o actualizado.</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También recuerde que no tiene que entrevistar a más personas sólo porque una</a:t>
            </a:r>
          </a:p>
          <a:p>
            <a:pPr algn="just"/>
            <a:r>
              <a:rPr lang="es-MX" sz="2000" dirty="0">
                <a:latin typeface="Times New Roman" panose="02020603050405020304" pitchFamily="18" charset="0"/>
                <a:cs typeface="Times New Roman" panose="02020603050405020304" pitchFamily="18" charset="0"/>
              </a:rPr>
              <a:t>organización sea grande. Si la muestra estratificada se lleva a cabo de manera adecuada, un número pequeño de personas representará perfectamente a la organización.</a:t>
            </a:r>
          </a:p>
        </p:txBody>
      </p:sp>
    </p:spTree>
    <p:extLst>
      <p:ext uri="{BB962C8B-B14F-4D97-AF65-F5344CB8AC3E}">
        <p14:creationId xmlns:p14="http://schemas.microsoft.com/office/powerpoint/2010/main" val="1027131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Errores de muestreo y no muestreo</a:t>
            </a: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006" t="20149" r="29722" b="34395"/>
          <a:stretch/>
        </p:blipFill>
        <p:spPr bwMode="auto">
          <a:xfrm>
            <a:off x="395536" y="1412776"/>
            <a:ext cx="8424936" cy="487577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570949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Errores de muestreo y no muestreo</a:t>
            </a:r>
          </a:p>
        </p:txBody>
      </p:sp>
      <p:sp>
        <p:nvSpPr>
          <p:cNvPr id="3" name="2 Rectángulo"/>
          <p:cNvSpPr/>
          <p:nvPr/>
        </p:nvSpPr>
        <p:spPr>
          <a:xfrm>
            <a:off x="755576" y="1484783"/>
            <a:ext cx="7776864" cy="4801315"/>
          </a:xfrm>
          <a:prstGeom prst="rect">
            <a:avLst/>
          </a:prstGeom>
        </p:spPr>
        <p:txBody>
          <a:bodyPr wrap="square">
            <a:spAutoFit/>
          </a:bodyPr>
          <a:lstStyle/>
          <a:p>
            <a:pPr algn="just"/>
            <a:r>
              <a:rPr lang="es-MX" b="1" dirty="0">
                <a:latin typeface="Times New Roman" panose="02020603050405020304" pitchFamily="18" charset="0"/>
                <a:cs typeface="Times New Roman" panose="02020603050405020304" pitchFamily="18" charset="0"/>
              </a:rPr>
              <a:t>Error de muestreo</a:t>
            </a:r>
            <a:r>
              <a:rPr lang="es-MX" dirty="0">
                <a:latin typeface="Times New Roman" panose="02020603050405020304" pitchFamily="18" charset="0"/>
                <a:cs typeface="Times New Roman" panose="02020603050405020304" pitchFamily="18" charset="0"/>
              </a:rPr>
              <a:t>: A menudo se intenta obtener información representativa de una población meta, a fin de efectuar inferencias acerca de la población total, basándose en respuestas de los entrevistados de la muestra, aunque el muestreo se ejecute de forma correcta, los resultados siguen sujetos a determinada cantidad de error. </a:t>
            </a:r>
          </a:p>
          <a:p>
            <a:pPr algn="just"/>
            <a:r>
              <a:rPr lang="es-MX" dirty="0">
                <a:latin typeface="Times New Roman" panose="02020603050405020304" pitchFamily="18" charset="0"/>
                <a:cs typeface="Times New Roman" panose="02020603050405020304" pitchFamily="18" charset="0"/>
              </a:rPr>
              <a:t> </a:t>
            </a:r>
          </a:p>
          <a:p>
            <a:pPr algn="just"/>
            <a:r>
              <a:rPr lang="es-MX" b="1" dirty="0">
                <a:latin typeface="Times New Roman" panose="02020603050405020304" pitchFamily="18" charset="0"/>
                <a:cs typeface="Times New Roman" panose="02020603050405020304" pitchFamily="18" charset="0"/>
              </a:rPr>
              <a:t>Error de muestreo aleatorio: </a:t>
            </a:r>
            <a:r>
              <a:rPr lang="es-MX" dirty="0">
                <a:latin typeface="Times New Roman" panose="02020603050405020304" pitchFamily="18" charset="0"/>
                <a:cs typeface="Times New Roman" panose="02020603050405020304" pitchFamily="18" charset="0"/>
              </a:rPr>
              <a:t>Este es la diferencia entre el valor de la muestra y el verdadero valor de la media  de la población, este tipo de error no puede evitarse, se reduce aumentando el  tamaño de la muestra. Es posible estimar el rango de error aleatorio a  determinado nivel de confianza. </a:t>
            </a:r>
          </a:p>
          <a:p>
            <a:pPr algn="just"/>
            <a:r>
              <a:rPr lang="es-MX" dirty="0">
                <a:latin typeface="Times New Roman" panose="02020603050405020304" pitchFamily="18" charset="0"/>
                <a:cs typeface="Times New Roman" panose="02020603050405020304" pitchFamily="18" charset="0"/>
              </a:rPr>
              <a:t> </a:t>
            </a:r>
          </a:p>
          <a:p>
            <a:pPr algn="just"/>
            <a:r>
              <a:rPr lang="es-MX" b="1" dirty="0">
                <a:latin typeface="Times New Roman" panose="02020603050405020304" pitchFamily="18" charset="0"/>
                <a:cs typeface="Times New Roman" panose="02020603050405020304" pitchFamily="18" charset="0"/>
              </a:rPr>
              <a:t>Error sistemático (Sesgo): </a:t>
            </a:r>
            <a:r>
              <a:rPr lang="es-MX" dirty="0">
                <a:latin typeface="Times New Roman" panose="02020603050405020304" pitchFamily="18" charset="0"/>
                <a:cs typeface="Times New Roman" panose="02020603050405020304" pitchFamily="18" charset="0"/>
              </a:rPr>
              <a:t>Se debe a errores o problemas en el diseño de la investigación o a fallas en la  ejecución del diseño de muestreo. Se presenta en los resultados de la muestra  18cuando éstos presentan una tendencia constante a variar en determinado sentido,  con respecto al valor verdadero del parámetro de la población estimada. </a:t>
            </a:r>
          </a:p>
          <a:p>
            <a:r>
              <a:rPr lang="es-MX" dirty="0"/>
              <a:t> </a:t>
            </a:r>
          </a:p>
        </p:txBody>
      </p:sp>
    </p:spTree>
    <p:extLst>
      <p:ext uri="{BB962C8B-B14F-4D97-AF65-F5344CB8AC3E}">
        <p14:creationId xmlns:p14="http://schemas.microsoft.com/office/powerpoint/2010/main" val="3391338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Errores de muestreo y no muestreo</a:t>
            </a:r>
          </a:p>
        </p:txBody>
      </p:sp>
      <p:sp>
        <p:nvSpPr>
          <p:cNvPr id="3" name="2 Rectángulo"/>
          <p:cNvSpPr/>
          <p:nvPr/>
        </p:nvSpPr>
        <p:spPr>
          <a:xfrm>
            <a:off x="539552" y="1316760"/>
            <a:ext cx="8316416" cy="3970318"/>
          </a:xfrm>
          <a:prstGeom prst="rect">
            <a:avLst/>
          </a:prstGeom>
        </p:spPr>
        <p:txBody>
          <a:bodyPr wrap="square">
            <a:spAutoFit/>
          </a:bodyPr>
          <a:lstStyle/>
          <a:p>
            <a:pPr algn="just"/>
            <a:r>
              <a:rPr lang="es-MX" b="1" dirty="0"/>
              <a:t>Error de campo</a:t>
            </a:r>
            <a:r>
              <a:rPr lang="es-MX" dirty="0"/>
              <a:t>. Se debe al uso de un campo de muestreo incompleto o impreciso, el problema consiste en que una muestra tomada de determinada lista que incluya error de campo, tal vez no constituya un verdadero corte transversal de la población meta.  “El uso de un directorio telefónico como campo de muestreo para una encuesta  telefónica. Muchos números no aparecen en el directorio o están restringidos por  ser de uso privado, o el propietario cambio de número”. </a:t>
            </a:r>
          </a:p>
          <a:p>
            <a:pPr algn="just"/>
            <a:r>
              <a:rPr lang="es-MX" dirty="0"/>
              <a:t> </a:t>
            </a:r>
          </a:p>
          <a:p>
            <a:pPr algn="just"/>
            <a:r>
              <a:rPr lang="es-MX" b="1" dirty="0"/>
              <a:t>Error de especificación de la población. </a:t>
            </a:r>
            <a:r>
              <a:rPr lang="es-MX" dirty="0"/>
              <a:t>Se debe a una definición incorrecta del universo o población donde se va a tomar  la muestra. “La población puede definirse como personas mayores a 35 años,  posteriormente, puede que sea útil incluir a individuos más jóvenes y no se redefinió la nueva población”. </a:t>
            </a:r>
          </a:p>
          <a:p>
            <a:endParaRPr lang="es-MX" dirty="0"/>
          </a:p>
        </p:txBody>
      </p:sp>
    </p:spTree>
    <p:extLst>
      <p:ext uri="{BB962C8B-B14F-4D97-AF65-F5344CB8AC3E}">
        <p14:creationId xmlns:p14="http://schemas.microsoft.com/office/powerpoint/2010/main" val="3585054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Errores de muestreo y no muestreo</a:t>
            </a:r>
          </a:p>
        </p:txBody>
      </p:sp>
      <p:sp>
        <p:nvSpPr>
          <p:cNvPr id="3" name="2 Rectángulo"/>
          <p:cNvSpPr/>
          <p:nvPr/>
        </p:nvSpPr>
        <p:spPr>
          <a:xfrm>
            <a:off x="467544" y="1484785"/>
            <a:ext cx="8280920" cy="4247317"/>
          </a:xfrm>
          <a:prstGeom prst="rect">
            <a:avLst/>
          </a:prstGeom>
        </p:spPr>
        <p:txBody>
          <a:bodyPr wrap="square">
            <a:spAutoFit/>
          </a:bodyPr>
          <a:lstStyle/>
          <a:p>
            <a:pPr algn="just"/>
            <a:r>
              <a:rPr lang="es-MX" b="1" dirty="0"/>
              <a:t>Error de selección.  </a:t>
            </a:r>
            <a:r>
              <a:rPr lang="es-MX" dirty="0"/>
              <a:t>Ocurre aunque el analista cuente con un campo de muestreo adecuado y haya  definido la población correctamente, se deben al uso de procedimientos de  muestreo incompletos, o que no se siguen de manera adecuada los  procedimientos de selección. “Al efectuarse entrevistas puerta a puerta se suele evitar por parte del investigador casas que no tienen apariencia de seguras,  limpias o habitadas por gente educada”.</a:t>
            </a:r>
          </a:p>
          <a:p>
            <a:pPr algn="just"/>
            <a:endParaRPr lang="es-MX" dirty="0"/>
          </a:p>
          <a:p>
            <a:pPr algn="just"/>
            <a:r>
              <a:rPr lang="es-MX" b="1" dirty="0"/>
              <a:t>Error de medición.  </a:t>
            </a:r>
            <a:r>
              <a:rPr lang="es-MX" dirty="0"/>
              <a:t>Es una amenaza más importante para la investigación que el error aleatorio,  ocurre cuando hay una variación entre la información deseada (valor verdadero) y  la información obtenida por el proceso de medición. </a:t>
            </a:r>
          </a:p>
          <a:p>
            <a:pPr algn="just"/>
            <a:r>
              <a:rPr lang="es-MX" dirty="0"/>
              <a:t> </a:t>
            </a:r>
          </a:p>
          <a:p>
            <a:pPr algn="just"/>
            <a:r>
              <a:rPr lang="es-MX" b="1" dirty="0"/>
              <a:t>Error de información subrogada.</a:t>
            </a:r>
            <a:r>
              <a:rPr lang="es-MX" dirty="0"/>
              <a:t> Ocurre cuando hay discrepancia entre la información que se necesita para resolver un problema y la información que el investigador está obteniendo. </a:t>
            </a:r>
          </a:p>
        </p:txBody>
      </p:sp>
    </p:spTree>
    <p:extLst>
      <p:ext uri="{BB962C8B-B14F-4D97-AF65-F5344CB8AC3E}">
        <p14:creationId xmlns:p14="http://schemas.microsoft.com/office/powerpoint/2010/main" val="695606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Errores de muestreo y no muestreo</a:t>
            </a:r>
          </a:p>
        </p:txBody>
      </p:sp>
      <p:sp>
        <p:nvSpPr>
          <p:cNvPr id="3" name="2 Rectángulo"/>
          <p:cNvSpPr/>
          <p:nvPr/>
        </p:nvSpPr>
        <p:spPr>
          <a:xfrm>
            <a:off x="251520" y="1124744"/>
            <a:ext cx="8496944" cy="5909310"/>
          </a:xfrm>
          <a:prstGeom prst="rect">
            <a:avLst/>
          </a:prstGeom>
        </p:spPr>
        <p:txBody>
          <a:bodyPr wrap="square">
            <a:spAutoFit/>
          </a:bodyPr>
          <a:lstStyle/>
          <a:p>
            <a:pPr algn="just"/>
            <a:endParaRPr lang="es-MX" dirty="0">
              <a:latin typeface="Times New Roman" panose="02020603050405020304" pitchFamily="18" charset="0"/>
              <a:cs typeface="Times New Roman" panose="02020603050405020304" pitchFamily="18" charset="0"/>
            </a:endParaRPr>
          </a:p>
          <a:p>
            <a:pPr algn="just"/>
            <a:r>
              <a:rPr lang="es-MX" b="1" dirty="0">
                <a:latin typeface="Times New Roman" panose="02020603050405020304" pitchFamily="18" charset="0"/>
                <a:cs typeface="Times New Roman" panose="02020603050405020304" pitchFamily="18" charset="0"/>
              </a:rPr>
              <a:t>Error del entrevistador.  </a:t>
            </a:r>
            <a:r>
              <a:rPr lang="es-MX" dirty="0">
                <a:latin typeface="Times New Roman" panose="02020603050405020304" pitchFamily="18" charset="0"/>
                <a:cs typeface="Times New Roman" panose="02020603050405020304" pitchFamily="18" charset="0"/>
              </a:rPr>
              <a:t>Se debe a la interacción entre el entrevistador y el entrevistado, de manera consciente o inconsciente, el entrevistador puede influir en que los entrevistados den respuestas falsas o imprecisas, además existe el falseamiento deliberado de la información. </a:t>
            </a:r>
          </a:p>
          <a:p>
            <a:pPr algn="just"/>
            <a:endParaRPr lang="es-MX" b="1" dirty="0">
              <a:latin typeface="Times New Roman" panose="02020603050405020304" pitchFamily="18" charset="0"/>
              <a:cs typeface="Times New Roman" panose="02020603050405020304" pitchFamily="18" charset="0"/>
            </a:endParaRPr>
          </a:p>
          <a:p>
            <a:pPr algn="just"/>
            <a:r>
              <a:rPr lang="es-MX" b="1" dirty="0">
                <a:latin typeface="Times New Roman" panose="02020603050405020304" pitchFamily="18" charset="0"/>
                <a:cs typeface="Times New Roman" panose="02020603050405020304" pitchFamily="18" charset="0"/>
              </a:rPr>
              <a:t>Sesgo en el instrumento de medición. </a:t>
            </a:r>
            <a:r>
              <a:rPr lang="es-MX" dirty="0">
                <a:latin typeface="Times New Roman" panose="02020603050405020304" pitchFamily="18" charset="0"/>
                <a:cs typeface="Times New Roman" panose="02020603050405020304" pitchFamily="18" charset="0"/>
              </a:rPr>
              <a:t>Ocurre debido a problemas como preguntas que sugieren la respuesta o a elementos del diseño del cuestionario que dificultan el registro de las respuestas y favorecen el registro de errores. </a:t>
            </a:r>
          </a:p>
          <a:p>
            <a:pPr algn="just"/>
            <a:r>
              <a:rPr lang="es-MX" dirty="0">
                <a:latin typeface="Times New Roman" panose="02020603050405020304" pitchFamily="18" charset="0"/>
                <a:cs typeface="Times New Roman" panose="02020603050405020304" pitchFamily="18" charset="0"/>
              </a:rPr>
              <a:t> </a:t>
            </a:r>
          </a:p>
          <a:p>
            <a:pPr algn="just"/>
            <a:r>
              <a:rPr lang="es-MX" b="1" dirty="0">
                <a:latin typeface="Times New Roman" panose="02020603050405020304" pitchFamily="18" charset="0"/>
                <a:cs typeface="Times New Roman" panose="02020603050405020304" pitchFamily="18" charset="0"/>
              </a:rPr>
              <a:t>Error de proceso. </a:t>
            </a:r>
            <a:r>
              <a:rPr lang="es-MX" dirty="0">
                <a:latin typeface="Times New Roman" panose="02020603050405020304" pitchFamily="18" charset="0"/>
                <a:cs typeface="Times New Roman" panose="02020603050405020304" pitchFamily="18" charset="0"/>
              </a:rPr>
              <a:t>Son los errores en la transferencia de la información de los documentos al computador. </a:t>
            </a:r>
          </a:p>
          <a:p>
            <a:pPr algn="just"/>
            <a:endParaRPr lang="es-MX" dirty="0">
              <a:latin typeface="Times New Roman" panose="02020603050405020304" pitchFamily="18" charset="0"/>
              <a:cs typeface="Times New Roman" panose="02020603050405020304" pitchFamily="18" charset="0"/>
            </a:endParaRPr>
          </a:p>
          <a:p>
            <a:pPr algn="just"/>
            <a:r>
              <a:rPr lang="es-MX" b="1" dirty="0">
                <a:latin typeface="Times New Roman" panose="02020603050405020304" pitchFamily="18" charset="0"/>
                <a:cs typeface="Times New Roman" panose="02020603050405020304" pitchFamily="18" charset="0"/>
              </a:rPr>
              <a:t>Sesgo de no respuesta: </a:t>
            </a:r>
            <a:r>
              <a:rPr lang="es-MX" dirty="0">
                <a:latin typeface="Times New Roman" panose="02020603050405020304" pitchFamily="18" charset="0"/>
                <a:cs typeface="Times New Roman" panose="02020603050405020304" pitchFamily="18" charset="0"/>
              </a:rPr>
              <a:t>Lo ideal es que si se elige una muestra, se entreviste a todos los componentes de  la muestra. En la práctica esto nunca se logra. La tasa de respuesta del 5% o  menos son frecuentes. Las personas que respondieron difieren sistemáticamente  20% en algún aspecto de las que no respondieron, estas diferencias se llaman sesgos  de no respuesta. </a:t>
            </a:r>
          </a:p>
          <a:p>
            <a:endParaRPr lang="es-MX" dirty="0"/>
          </a:p>
          <a:p>
            <a:r>
              <a:rPr lang="es-MX" dirty="0"/>
              <a:t> </a:t>
            </a:r>
          </a:p>
          <a:p>
            <a:r>
              <a:rPr lang="es-MX" dirty="0"/>
              <a:t> </a:t>
            </a:r>
          </a:p>
        </p:txBody>
      </p:sp>
    </p:spTree>
    <p:extLst>
      <p:ext uri="{BB962C8B-B14F-4D97-AF65-F5344CB8AC3E}">
        <p14:creationId xmlns:p14="http://schemas.microsoft.com/office/powerpoint/2010/main" val="3315284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Observación</a:t>
            </a:r>
          </a:p>
        </p:txBody>
      </p:sp>
      <p:sp>
        <p:nvSpPr>
          <p:cNvPr id="3" name="2 Rectángulo"/>
          <p:cNvSpPr/>
          <p:nvPr/>
        </p:nvSpPr>
        <p:spPr>
          <a:xfrm>
            <a:off x="483568" y="1412776"/>
            <a:ext cx="7992888" cy="2831544"/>
          </a:xfrm>
          <a:prstGeom prst="rect">
            <a:avLst/>
          </a:prstGeom>
        </p:spPr>
        <p:txBody>
          <a:bodyPr wrap="square">
            <a:spAutoFit/>
          </a:bodyPr>
          <a:lstStyle/>
          <a:p>
            <a:endParaRPr lang="es-MX" dirty="0"/>
          </a:p>
          <a:p>
            <a:pPr algn="just"/>
            <a:r>
              <a:rPr lang="es-MX" sz="2000" dirty="0">
                <a:latin typeface="Times New Roman" panose="02020603050405020304" pitchFamily="18" charset="0"/>
                <a:cs typeface="Times New Roman" panose="02020603050405020304" pitchFamily="18" charset="0"/>
              </a:rPr>
              <a:t>La observación de las actividades de los tomadores de decisiones es sólo una forma de evaluar sus requerimientos de información. La observación del entorno físico en el cual se desempeñan los tomadores de decisiones también pone de manifiesto muchos de sus requerimientos de información. Con mucha frecuencia, dicha observación implica examinar sistemáticamente las oficinas de los tomadores de decisiones, ya que éstas constituyen su principal lugar de trabajo. Los tomadores de decisiones influyen en, y a su vez reciben influencia de, sus entornos físicos.</a:t>
            </a:r>
          </a:p>
        </p:txBody>
      </p:sp>
      <p:pic>
        <p:nvPicPr>
          <p:cNvPr id="4" name="Imagen 3"/>
          <p:cNvPicPr>
            <a:picLocks noChangeAspect="1"/>
          </p:cNvPicPr>
          <p:nvPr/>
        </p:nvPicPr>
        <p:blipFill>
          <a:blip r:embed="rId2"/>
          <a:stretch>
            <a:fillRect/>
          </a:stretch>
        </p:blipFill>
        <p:spPr>
          <a:xfrm>
            <a:off x="6532240" y="4130689"/>
            <a:ext cx="1944216" cy="2067658"/>
          </a:xfrm>
          <a:prstGeom prst="rect">
            <a:avLst/>
          </a:prstGeom>
        </p:spPr>
      </p:pic>
    </p:spTree>
    <p:extLst>
      <p:ext uri="{BB962C8B-B14F-4D97-AF65-F5344CB8AC3E}">
        <p14:creationId xmlns:p14="http://schemas.microsoft.com/office/powerpoint/2010/main" val="1878938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404664"/>
            <a:ext cx="8534400" cy="758952"/>
          </a:xfrm>
        </p:spPr>
        <p:txBody>
          <a:bodyPr>
            <a:normAutofit fontScale="90000"/>
          </a:bodyPr>
          <a:lstStyle/>
          <a:p>
            <a:r>
              <a:rPr lang="es-MX" b="1" dirty="0"/>
              <a:t>OBSERVACIÓN ESTRUCTURADA DEL ENTORNO (STROBE)</a:t>
            </a:r>
            <a:endParaRPr lang="es-MX" dirty="0"/>
          </a:p>
        </p:txBody>
      </p:sp>
      <p:sp>
        <p:nvSpPr>
          <p:cNvPr id="4" name="3 Rectángulo"/>
          <p:cNvSpPr/>
          <p:nvPr/>
        </p:nvSpPr>
        <p:spPr>
          <a:xfrm>
            <a:off x="4549509" y="1988840"/>
            <a:ext cx="4159047" cy="3724213"/>
          </a:xfrm>
          <a:prstGeom prst="rect">
            <a:avLst/>
          </a:prstGeom>
          <a:effectLst>
            <a:glow rad="139700">
              <a:schemeClr val="accent4">
                <a:satMod val="175000"/>
                <a:alpha val="40000"/>
              </a:schemeClr>
            </a:glow>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just"/>
            <a:r>
              <a:rPr lang="es-MX" sz="2000" dirty="0">
                <a:latin typeface="Times New Roman" panose="02020603050405020304" pitchFamily="18" charset="0"/>
                <a:cs typeface="Times New Roman" panose="02020603050405020304" pitchFamily="18" charset="0"/>
              </a:rPr>
              <a:t>La aplicación exitosa del STROBE requiere que el analista observe explícitamente siete elementos concretos que por lo general se encuentran en las oficinas. Estos elementos pueden revelar mucho sobre la forma en que el tomador de decisiones recopila, procesa, almacena y comparte la información, así como también sobre su credibilidad en el lugar de trabajo.</a:t>
            </a:r>
          </a:p>
        </p:txBody>
      </p:sp>
      <p:pic>
        <p:nvPicPr>
          <p:cNvPr id="4098" name="Picture 2" descr="http://3.bp.blogspot.com/-QWfgYrGrJp8/USnQcLlpP0I/AAAAAAAAAFE/AoD3c23bSAc/s1600/15390468-algunas-personas-3d-en-la-observacion-de-la-tierr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2859206"/>
            <a:ext cx="3969402" cy="29770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9092515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Rectángulo"/>
          <p:cNvSpPr/>
          <p:nvPr/>
        </p:nvSpPr>
        <p:spPr>
          <a:xfrm>
            <a:off x="611560" y="1412776"/>
            <a:ext cx="7848872" cy="4708981"/>
          </a:xfrm>
          <a:prstGeom prst="rect">
            <a:avLst/>
          </a:prstGeom>
        </p:spPr>
        <p:txBody>
          <a:bodyPr wrap="square">
            <a:spAutoFit/>
          </a:bodyPr>
          <a:lstStyle/>
          <a:p>
            <a:pPr marL="285750" indent="-285750" algn="just">
              <a:buFont typeface="Arial" panose="020B0604020202020204" pitchFamily="34" charset="0"/>
              <a:buChar char="•"/>
            </a:pPr>
            <a:r>
              <a:rPr lang="es-MX" sz="2000" b="1" dirty="0">
                <a:latin typeface="Times New Roman" panose="02020603050405020304" pitchFamily="18" charset="0"/>
                <a:cs typeface="Times New Roman" panose="02020603050405020304" pitchFamily="18" charset="0"/>
              </a:rPr>
              <a:t>Elementos </a:t>
            </a:r>
            <a:r>
              <a:rPr lang="es-MX" sz="2000" b="1" dirty="0" err="1">
                <a:latin typeface="Times New Roman" panose="02020603050405020304" pitchFamily="18" charset="0"/>
                <a:cs typeface="Times New Roman" panose="02020603050405020304" pitchFamily="18" charset="0"/>
              </a:rPr>
              <a:t>Strobe</a:t>
            </a:r>
            <a:r>
              <a:rPr lang="es-MX" sz="2000" b="1"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endParaRPr lang="es-MX"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Ubicación de la oficina.</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Ubicación del escritorio.</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Equipo de oficina fijo.</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Revistas, libros, manuales de la empresa.</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Iluminación y color de la oficina.</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Vestimenta.</a:t>
            </a:r>
          </a:p>
          <a:p>
            <a:pPr lvl="1" algn="just"/>
            <a:endParaRPr lang="es-MX" sz="2000" dirty="0">
              <a:latin typeface="Times New Roman" panose="02020603050405020304" pitchFamily="18" charset="0"/>
              <a:cs typeface="Times New Roman" panose="02020603050405020304" pitchFamily="18" charset="0"/>
            </a:endParaRPr>
          </a:p>
          <a:p>
            <a:pPr algn="just"/>
            <a:r>
              <a:rPr lang="es-MX" sz="2000" b="1" dirty="0">
                <a:latin typeface="Times New Roman" panose="02020603050405020304" pitchFamily="18" charset="0"/>
                <a:cs typeface="Times New Roman" panose="02020603050405020304" pitchFamily="18" charset="0"/>
              </a:rPr>
              <a:t>• Alternativas de aplicación. </a:t>
            </a:r>
          </a:p>
          <a:p>
            <a:pPr marL="742950" lvl="1" indent="-285750" algn="just">
              <a:buFont typeface="Arial" panose="020B0604020202020204" pitchFamily="34" charset="0"/>
              <a:buChar char="•"/>
            </a:pPr>
            <a:endParaRPr lang="es-MX"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s-MX" sz="2000">
                <a:latin typeface="Times New Roman" panose="02020603050405020304" pitchFamily="18" charset="0"/>
                <a:cs typeface="Times New Roman" panose="02020603050405020304" pitchFamily="18" charset="0"/>
              </a:rPr>
              <a:t> </a:t>
            </a:r>
            <a:r>
              <a:rPr lang="es-MX" sz="2000" dirty="0">
                <a:latin typeface="Times New Roman" panose="02020603050405020304" pitchFamily="18" charset="0"/>
                <a:cs typeface="Times New Roman" panose="02020603050405020304" pitchFamily="18" charset="0"/>
              </a:rPr>
              <a:t>Análisis de fotografías. </a:t>
            </a:r>
          </a:p>
          <a:p>
            <a:pPr marL="742950" lvl="1" indent="-285750" algn="just">
              <a:buFont typeface="Arial" panose="020B0604020202020204" pitchFamily="34" charset="0"/>
              <a:buChar char="•"/>
            </a:pPr>
            <a:r>
              <a:rPr lang="es-MX" sz="2000" dirty="0">
                <a:latin typeface="Times New Roman" panose="02020603050405020304" pitchFamily="18" charset="0"/>
                <a:cs typeface="Times New Roman" panose="02020603050405020304" pitchFamily="18" charset="0"/>
              </a:rPr>
              <a:t> Colección de simbología.</a:t>
            </a:r>
          </a:p>
          <a:p>
            <a:pPr marL="742950" lvl="1" indent="-285750" algn="just">
              <a:buFont typeface="Arial" panose="020B0604020202020204" pitchFamily="34" charset="0"/>
              <a:buChar char="•"/>
            </a:pPr>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a:t>
            </a:r>
            <a:r>
              <a:rPr lang="es-MX" sz="2000" b="1" dirty="0">
                <a:latin typeface="Times New Roman" panose="02020603050405020304" pitchFamily="18" charset="0"/>
                <a:cs typeface="Times New Roman" panose="02020603050405020304" pitchFamily="18" charset="0"/>
              </a:rPr>
              <a:t>Comparación de la observación / narración</a:t>
            </a:r>
          </a:p>
        </p:txBody>
      </p:sp>
    </p:spTree>
    <p:extLst>
      <p:ext uri="{BB962C8B-B14F-4D97-AF65-F5344CB8AC3E}">
        <p14:creationId xmlns:p14="http://schemas.microsoft.com/office/powerpoint/2010/main" val="3615125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332656"/>
            <a:ext cx="8534400" cy="758952"/>
          </a:xfrm>
        </p:spPr>
        <p:txBody>
          <a:bodyPr>
            <a:normAutofit fontScale="90000"/>
          </a:bodyPr>
          <a:lstStyle/>
          <a:p>
            <a:r>
              <a:rPr lang="es-MX" dirty="0"/>
              <a:t>7 elementos que se deben observar en el STROBE y ejemplos de preguntas que se pueden realizar.</a:t>
            </a:r>
          </a:p>
        </p:txBody>
      </p:sp>
      <p:graphicFrame>
        <p:nvGraphicFramePr>
          <p:cNvPr id="3" name="2 Tabla"/>
          <p:cNvGraphicFramePr>
            <a:graphicFrameLocks noGrp="1"/>
          </p:cNvGraphicFramePr>
          <p:nvPr>
            <p:extLst>
              <p:ext uri="{D42A27DB-BD31-4B8C-83A1-F6EECF244321}">
                <p14:modId xmlns:p14="http://schemas.microsoft.com/office/powerpoint/2010/main" val="643317619"/>
              </p:ext>
            </p:extLst>
          </p:nvPr>
        </p:nvGraphicFramePr>
        <p:xfrm>
          <a:off x="251520" y="1484784"/>
          <a:ext cx="8640960" cy="4893414"/>
        </p:xfrm>
        <a:graphic>
          <a:graphicData uri="http://schemas.openxmlformats.org/drawingml/2006/table">
            <a:tbl>
              <a:tblPr firstRow="1" bandRow="1">
                <a:tableStyleId>{5C22544A-7EE6-4342-B048-85BDC9FD1C3A}</a:tableStyleId>
              </a:tblPr>
              <a:tblGrid>
                <a:gridCol w="2808311">
                  <a:extLst>
                    <a:ext uri="{9D8B030D-6E8A-4147-A177-3AD203B41FA5}">
                      <a16:colId xmlns:a16="http://schemas.microsoft.com/office/drawing/2014/main" val="20000"/>
                    </a:ext>
                  </a:extLst>
                </a:gridCol>
                <a:gridCol w="5832649">
                  <a:extLst>
                    <a:ext uri="{9D8B030D-6E8A-4147-A177-3AD203B41FA5}">
                      <a16:colId xmlns:a16="http://schemas.microsoft.com/office/drawing/2014/main" val="20001"/>
                    </a:ext>
                  </a:extLst>
                </a:gridCol>
              </a:tblGrid>
              <a:tr h="370362">
                <a:tc>
                  <a:txBody>
                    <a:bodyPr/>
                    <a:lstStyle/>
                    <a:p>
                      <a:r>
                        <a:rPr lang="es-MX" dirty="0"/>
                        <a:t>Elemento Observable</a:t>
                      </a:r>
                    </a:p>
                  </a:txBody>
                  <a:tcPr/>
                </a:tc>
                <a:tc>
                  <a:txBody>
                    <a:bodyPr/>
                    <a:lstStyle/>
                    <a:p>
                      <a:r>
                        <a:rPr kumimoji="0" lang="es-MX" sz="1800" b="1" i="0" u="none" strike="noStrike" kern="1200" baseline="0" dirty="0">
                          <a:solidFill>
                            <a:schemeClr val="lt1"/>
                          </a:solidFill>
                          <a:latin typeface="+mn-lt"/>
                          <a:ea typeface="+mn-ea"/>
                          <a:cs typeface="+mn-cs"/>
                        </a:rPr>
                        <a:t>Preguntas que el analista podría investigar</a:t>
                      </a:r>
                      <a:endParaRPr lang="es-MX" dirty="0"/>
                    </a:p>
                  </a:txBody>
                  <a:tcPr/>
                </a:tc>
                <a:extLst>
                  <a:ext uri="{0D108BD9-81ED-4DB2-BD59-A6C34878D82A}">
                    <a16:rowId xmlns:a16="http://schemas.microsoft.com/office/drawing/2014/main" val="10000"/>
                  </a:ext>
                </a:extLst>
              </a:tr>
              <a:tr h="539040">
                <a:tc>
                  <a:txBody>
                    <a:bodyPr/>
                    <a:lstStyle/>
                    <a:p>
                      <a:pPr algn="just"/>
                      <a:r>
                        <a:rPr lang="es-MX" sz="1600" b="1" dirty="0">
                          <a:latin typeface="Times New Roman" panose="02020603050405020304" pitchFamily="18" charset="0"/>
                          <a:cs typeface="Times New Roman" panose="02020603050405020304" pitchFamily="18" charset="0"/>
                        </a:rPr>
                        <a:t>Ubicación de la Oficina</a:t>
                      </a:r>
                    </a:p>
                  </a:txBody>
                  <a:tcPr/>
                </a:tc>
                <a:tc>
                  <a:txBody>
                    <a:bodyPr/>
                    <a:lstStyle/>
                    <a:p>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¿Quién tiene la oficina de la esquina? ¿Los tomadores de decisiones importantes están dispersos en los diferentes pisos?</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539040">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Colocación del escritorio</a:t>
                      </a:r>
                      <a:endParaRPr lang="es-MX" sz="1600" b="1" dirty="0">
                        <a:latin typeface="Times New Roman" panose="02020603050405020304" pitchFamily="18" charset="0"/>
                        <a:cs typeface="Times New Roman" panose="02020603050405020304" pitchFamily="18" charset="0"/>
                      </a:endParaRPr>
                    </a:p>
                  </a:txBody>
                  <a:tcPr/>
                </a:tc>
                <a:tc>
                  <a:txBody>
                    <a:bodyPr/>
                    <a:lstStyle/>
                    <a:p>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¿La colocación del escritorio favorece la comunicación? ¿La colocación demuestra la autoridad?</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766004">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Equipo fijo</a:t>
                      </a:r>
                      <a:endParaRPr lang="es-MX" sz="1600" b="1" dirty="0">
                        <a:latin typeface="Times New Roman" panose="02020603050405020304" pitchFamily="18" charset="0"/>
                        <a:cs typeface="Times New Roman" panose="02020603050405020304" pitchFamily="18" charset="0"/>
                      </a:endParaRPr>
                    </a:p>
                  </a:txBody>
                  <a:tcPr/>
                </a:tc>
                <a:tc>
                  <a:txBody>
                    <a:bodyPr/>
                    <a:lstStyle/>
                    <a:p>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¿El tomador de decisiones prefiere recopilar y almacenar la información personalmente? ¿El área de almacenamiento es grande o pequeña?</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539040">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Accesorios</a:t>
                      </a:r>
                      <a:endParaRPr lang="es-MX" sz="1600" b="1" dirty="0">
                        <a:latin typeface="Times New Roman" panose="02020603050405020304" pitchFamily="18" charset="0"/>
                        <a:cs typeface="Times New Roman" panose="02020603050405020304" pitchFamily="18" charset="0"/>
                      </a:endParaRPr>
                    </a:p>
                  </a:txBody>
                  <a:tcPr/>
                </a:tc>
                <a:tc>
                  <a:txBody>
                    <a:bodyPr/>
                    <a:lstStyle/>
                    <a:p>
                      <a:pPr algn="just"/>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¿Hay evidencia de que el tomador de decisiones utiliza la PC? ¿Hay computadoras portátiles o de bolsillo en la oficina?</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539040">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Fuentes externas de información</a:t>
                      </a:r>
                      <a:endParaRPr lang="es-MX" sz="1600" b="1" dirty="0">
                        <a:latin typeface="Times New Roman" panose="02020603050405020304" pitchFamily="18" charset="0"/>
                        <a:cs typeface="Times New Roman" panose="02020603050405020304" pitchFamily="18" charset="0"/>
                      </a:endParaRPr>
                    </a:p>
                  </a:txBody>
                  <a:tcPr/>
                </a:tc>
                <a:tc>
                  <a:txBody>
                    <a:bodyPr/>
                    <a:lstStyle/>
                    <a:p>
                      <a:pPr algn="just"/>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¿El tomador de decisiones obtiene mucha información de fuentes externas tales como revistas especializadas o Web?</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766004">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Iluminación y color de la oficina</a:t>
                      </a:r>
                      <a:endParaRPr lang="es-MX" sz="1600" b="1" dirty="0">
                        <a:latin typeface="Times New Roman" panose="02020603050405020304" pitchFamily="18" charset="0"/>
                        <a:cs typeface="Times New Roman" panose="02020603050405020304" pitchFamily="18" charset="0"/>
                      </a:endParaRPr>
                    </a:p>
                  </a:txBody>
                  <a:tcPr/>
                </a:tc>
                <a:tc>
                  <a:txBody>
                    <a:bodyPr/>
                    <a:lstStyle/>
                    <a:p>
                      <a:pPr algn="just"/>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¿La iluminación es propicia para un trabajo detallado o es más apropiada para la comunicación casual? ¿Los colores son cálidos y llamativos?</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r h="766004">
                <a:tc>
                  <a:txBody>
                    <a:bodyPr/>
                    <a:lstStyle/>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Vestimenta de los tomadores</a:t>
                      </a:r>
                    </a:p>
                    <a:p>
                      <a:pPr algn="just"/>
                      <a:r>
                        <a:rPr kumimoji="0" lang="es-MX"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de decisiones</a:t>
                      </a:r>
                      <a:endParaRPr lang="es-MX" sz="1600" b="1" dirty="0">
                        <a:latin typeface="Times New Roman" panose="02020603050405020304" pitchFamily="18" charset="0"/>
                        <a:cs typeface="Times New Roman" panose="02020603050405020304" pitchFamily="18" charset="0"/>
                      </a:endParaRPr>
                    </a:p>
                  </a:txBody>
                  <a:tcPr/>
                </a:tc>
                <a:tc>
                  <a:txBody>
                    <a:bodyPr/>
                    <a:lstStyle/>
                    <a:p>
                      <a:pPr algn="just"/>
                      <a:r>
                        <a:rPr kumimoji="0" lang="es-MX" sz="15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¿El tomador de decisiones muestra autoridad cuando se pone trajes conservadores? ¿Es reglamentario que los empleados porten uniformes?</a:t>
                      </a:r>
                      <a:endParaRPr lang="es-MX"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143926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Ubicación de la Oficina</a:t>
            </a:r>
          </a:p>
        </p:txBody>
      </p:sp>
      <p:sp>
        <p:nvSpPr>
          <p:cNvPr id="3" name="2 Rectángulo"/>
          <p:cNvSpPr/>
          <p:nvPr/>
        </p:nvSpPr>
        <p:spPr>
          <a:xfrm>
            <a:off x="467544" y="1628799"/>
            <a:ext cx="8352928" cy="4708981"/>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Uno de los primeros elementos que el analista de sistemas debe observar es la ubicación de la oficina de un tomador de decisiones específico con respecto a otras oficinas. </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Las oficinas accesibles tienden a aumentar la frecuencia de la interacción y los mensajes informales, mientras que las oficinas inaccesibles tienden a disminuir la frecuencia de la interacción y a aumentar los mensajes orientados a las tareas.</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 El resultado de que las oficinas se distribuyan por todo el edificio es que con frecuencia un informe o memorando se queda detenido en una de las oficinas, mientras que en las oficinas agrupadas se favorece el compartir la información. </a:t>
            </a:r>
          </a:p>
          <a:p>
            <a:pPr algn="just"/>
            <a:endParaRPr lang="es-MX"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También es probable que las personas cuyas oficinas están separadas de las de los demás pudieran ver a la organización de forma diferente y sus objetivos podrían alejarse de los de otros miembros de la organización.</a:t>
            </a:r>
          </a:p>
        </p:txBody>
      </p:sp>
    </p:spTree>
    <p:extLst>
      <p:ext uri="{BB962C8B-B14F-4D97-AF65-F5344CB8AC3E}">
        <p14:creationId xmlns:p14="http://schemas.microsoft.com/office/powerpoint/2010/main" val="1792912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a:t>Colocación del escritorio</a:t>
            </a:r>
            <a:endParaRPr lang="es-MX" dirty="0"/>
          </a:p>
        </p:txBody>
      </p:sp>
      <p:sp>
        <p:nvSpPr>
          <p:cNvPr id="3" name="2 Rectángulo"/>
          <p:cNvSpPr/>
          <p:nvPr/>
        </p:nvSpPr>
        <p:spPr>
          <a:xfrm>
            <a:off x="323528" y="1484784"/>
            <a:ext cx="8568952" cy="255454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La colocación de un escritorio en la oficina puede ofrecer pistas sobre la manera en que el tomador de decisiones ejerce su autoridad. Los ejecutivos que confinan a un visitante a un espacio reducido y con la espalda a la pared mientras ellos tienen exceso de espacio, adoptan la posición de autoridad más fuerte posible. Un ejecutivo que coloca su escritorio frente a la pared con una silla al lado para un visitante estimula la participación y los intercambios equitativos. El analista de sistemas debe observar la distribución de los muebles de la oficina y en particular la colocación del escritorio. </a:t>
            </a:r>
          </a:p>
        </p:txBody>
      </p:sp>
      <p:pic>
        <p:nvPicPr>
          <p:cNvPr id="6146" name="Picture 2" descr="http://www.imueblesdecoracion.com/wp-content/uploads/2010/10/pintar-un-escritorio-de-mader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573" y="3814156"/>
            <a:ext cx="2880320" cy="2467564"/>
          </a:xfrm>
          <a:prstGeom prst="rect">
            <a:avLst/>
          </a:prstGeom>
          <a:ln w="38100" cap="sq">
            <a:solidFill>
              <a:schemeClr val="accent6">
                <a:lumMod val="75000"/>
              </a:schemeClr>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7972411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Equipo fijo de oficina</a:t>
            </a:r>
          </a:p>
        </p:txBody>
      </p:sp>
      <p:sp>
        <p:nvSpPr>
          <p:cNvPr id="3" name="2 Rectángulo"/>
          <p:cNvSpPr/>
          <p:nvPr/>
        </p:nvSpPr>
        <p:spPr>
          <a:xfrm>
            <a:off x="611560" y="1720840"/>
            <a:ext cx="8136904" cy="1631216"/>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Archiveros, libreros y otro equipo grande para almacenar artículos se incluyen en la categoría de equipo fijo de oficina. Si no hay tal equipo, es probable que el tomador de decisiones almacene muy pocos artículos de información por sí mismo. Si hay una abundancia de tal equipo, se asume que el tomador de decisiones almacena y valora mucha información.</a:t>
            </a:r>
          </a:p>
        </p:txBody>
      </p:sp>
      <p:pic>
        <p:nvPicPr>
          <p:cNvPr id="5122" name="Picture 2" descr="http://registrodedatos.com/UserFiles/Image/RED/reg%20activos/foto%2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3645024"/>
            <a:ext cx="2376264" cy="265085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664486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Accesorios</a:t>
            </a:r>
          </a:p>
        </p:txBody>
      </p:sp>
      <p:sp>
        <p:nvSpPr>
          <p:cNvPr id="3" name="2 Rectángulo"/>
          <p:cNvSpPr/>
          <p:nvPr/>
        </p:nvSpPr>
        <p:spPr>
          <a:xfrm>
            <a:off x="467544" y="1556792"/>
            <a:ext cx="8208912" cy="2246769"/>
          </a:xfrm>
          <a:prstGeom prst="rect">
            <a:avLst/>
          </a:prstGeom>
        </p:spPr>
        <p:txBody>
          <a:bodyPr wrap="square">
            <a:spAutoFit/>
          </a:bodyPr>
          <a:lstStyle/>
          <a:p>
            <a:r>
              <a:rPr lang="es-MX" sz="2000" dirty="0">
                <a:latin typeface="Times New Roman" panose="02020603050405020304" pitchFamily="18" charset="0"/>
                <a:cs typeface="Times New Roman" panose="02020603050405020304" pitchFamily="18" charset="0"/>
              </a:rPr>
              <a:t>El término </a:t>
            </a:r>
            <a:r>
              <a:rPr lang="es-MX" sz="2000" i="1" dirty="0">
                <a:latin typeface="Times New Roman" panose="02020603050405020304" pitchFamily="18" charset="0"/>
                <a:cs typeface="Times New Roman" panose="02020603050405020304" pitchFamily="18" charset="0"/>
              </a:rPr>
              <a:t>accesorios </a:t>
            </a:r>
            <a:r>
              <a:rPr lang="es-MX" sz="2000" dirty="0">
                <a:latin typeface="Times New Roman" panose="02020603050405020304" pitchFamily="18" charset="0"/>
                <a:cs typeface="Times New Roman" panose="02020603050405020304" pitchFamily="18" charset="0"/>
              </a:rPr>
              <a:t>se refiere a todo el equipo pequeño usado para procesar</a:t>
            </a:r>
          </a:p>
          <a:p>
            <a:r>
              <a:rPr lang="es-MX" sz="2000" dirty="0">
                <a:latin typeface="Times New Roman" panose="02020603050405020304" pitchFamily="18" charset="0"/>
                <a:cs typeface="Times New Roman" panose="02020603050405020304" pitchFamily="18" charset="0"/>
              </a:rPr>
              <a:t>información, incluso las computadoras de bolsillo, calculadoras, </a:t>
            </a:r>
            <a:r>
              <a:rPr lang="es-MX" sz="2000" dirty="0" err="1">
                <a:latin typeface="Times New Roman" panose="02020603050405020304" pitchFamily="18" charset="0"/>
                <a:cs typeface="Times New Roman" panose="02020603050405020304" pitchFamily="18" charset="0"/>
              </a:rPr>
              <a:t>PCs</a:t>
            </a:r>
            <a:r>
              <a:rPr lang="es-MX" sz="2000" dirty="0">
                <a:latin typeface="Times New Roman" panose="02020603050405020304" pitchFamily="18" charset="0"/>
                <a:cs typeface="Times New Roman" panose="02020603050405020304" pitchFamily="18" charset="0"/>
              </a:rPr>
              <a:t>, plumas, lápices y reglas.</a:t>
            </a:r>
          </a:p>
          <a:p>
            <a:endParaRPr lang="es-MX" sz="2000" dirty="0">
              <a:latin typeface="Times New Roman" panose="02020603050405020304" pitchFamily="18" charset="0"/>
              <a:cs typeface="Times New Roman" panose="02020603050405020304" pitchFamily="18" charset="0"/>
            </a:endParaRPr>
          </a:p>
          <a:p>
            <a:r>
              <a:rPr lang="es-MX" sz="2000" dirty="0">
                <a:latin typeface="Times New Roman" panose="02020603050405020304" pitchFamily="18" charset="0"/>
                <a:cs typeface="Times New Roman" panose="02020603050405020304" pitchFamily="18" charset="0"/>
              </a:rPr>
              <a:t>La presencia de computadoras de bolsillo, calculadoras y </a:t>
            </a:r>
            <a:r>
              <a:rPr lang="es-MX" sz="2000" dirty="0" err="1">
                <a:latin typeface="Times New Roman" panose="02020603050405020304" pitchFamily="18" charset="0"/>
                <a:cs typeface="Times New Roman" panose="02020603050405020304" pitchFamily="18" charset="0"/>
              </a:rPr>
              <a:t>PCs</a:t>
            </a:r>
            <a:r>
              <a:rPr lang="es-MX" sz="2000" dirty="0">
                <a:latin typeface="Times New Roman" panose="02020603050405020304" pitchFamily="18" charset="0"/>
                <a:cs typeface="Times New Roman" panose="02020603050405020304" pitchFamily="18" charset="0"/>
              </a:rPr>
              <a:t> sugiere que un tomador de decisiones que posee dicho equipo es más probable que lo use personalmente que uno que debe salir de la oficina para usarlo.</a:t>
            </a:r>
          </a:p>
        </p:txBody>
      </p:sp>
      <p:pic>
        <p:nvPicPr>
          <p:cNvPr id="7170" name="Picture 2" descr="http://static.freepik.com/foto-gratis/pluma--lapiz--calculadora--trabajo_32075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933056"/>
            <a:ext cx="2981325" cy="1985963"/>
          </a:xfrm>
          <a:prstGeom prst="roundRect">
            <a:avLst>
              <a:gd name="adj" fmla="val 4167"/>
            </a:avLst>
          </a:prstGeom>
          <a:solidFill>
            <a:srgbClr val="FFFFFF"/>
          </a:solidFill>
          <a:ln w="76200" cap="sq">
            <a:solidFill>
              <a:schemeClr val="accent6">
                <a:lumMod val="40000"/>
                <a:lumOff val="6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592285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Fuentes externas de Información</a:t>
            </a:r>
          </a:p>
        </p:txBody>
      </p:sp>
      <p:sp>
        <p:nvSpPr>
          <p:cNvPr id="3" name="2 Rectángulo"/>
          <p:cNvSpPr/>
          <p:nvPr/>
        </p:nvSpPr>
        <p:spPr>
          <a:xfrm>
            <a:off x="539552" y="1484784"/>
            <a:ext cx="8166271" cy="255454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Un analista de sistemas necesita saber qué tipo de información usa el tomador de decisiones. La observación del tipo de publicaciones almacenadas en la oficina puede revelar si el tomador de decisiones recurre a información externa (en revistas de comercio, recortes de periódico sobre otras compañías de la industria, etc.) o se basa más en la información interna (informes de la compañía, correspondencia de la oficina, manuales de políticas). El analista  también debe observar si el tomador de decisiones prefiere conseguir información externa en la Web.</a:t>
            </a:r>
          </a:p>
        </p:txBody>
      </p:sp>
    </p:spTree>
    <p:extLst>
      <p:ext uri="{BB962C8B-B14F-4D97-AF65-F5344CB8AC3E}">
        <p14:creationId xmlns:p14="http://schemas.microsoft.com/office/powerpoint/2010/main" val="2672479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Iluminación y color de la oficina</a:t>
            </a:r>
          </a:p>
        </p:txBody>
      </p:sp>
      <p:sp>
        <p:nvSpPr>
          <p:cNvPr id="3" name="2 Rectángulo"/>
          <p:cNvSpPr/>
          <p:nvPr/>
        </p:nvSpPr>
        <p:spPr>
          <a:xfrm>
            <a:off x="395536" y="1539205"/>
            <a:ext cx="8136904" cy="255454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La iluminación y el color juegan un papel importante en la manera en que un tomador de decisiones recopila información. Una oficina con iluminación cálida y radiante indica una tendencia hacia la comunicación más personal. Un ejecutivo en una oficina iluminada cálidamente recopilará más información de manera informal, mientras que otro miembro de la organización que trabaja en una oficina iluminada con gran colorido podría recopilar información a través de memorandos más formales e informes oficiales.</a:t>
            </a:r>
          </a:p>
        </p:txBody>
      </p:sp>
      <p:pic>
        <p:nvPicPr>
          <p:cNvPr id="8194" name="Picture 2" descr="http://www.digitalavmagazine.com/wp-content/uploads/2013/05/HM-Value-Despacho-con-luminarias-de-Philip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3933056"/>
            <a:ext cx="3384376" cy="24193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064886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Vestimenta de los tomadores de Decisiones</a:t>
            </a:r>
          </a:p>
        </p:txBody>
      </p:sp>
      <p:sp>
        <p:nvSpPr>
          <p:cNvPr id="3" name="2 Rectángulo"/>
          <p:cNvSpPr/>
          <p:nvPr/>
        </p:nvSpPr>
        <p:spPr>
          <a:xfrm>
            <a:off x="467544" y="1772816"/>
            <a:ext cx="7632848" cy="3139321"/>
          </a:xfrm>
          <a:prstGeom prst="rect">
            <a:avLst/>
          </a:prstGeom>
        </p:spPr>
        <p:txBody>
          <a:bodyPr wrap="square">
            <a:spAutoFit/>
          </a:bodyPr>
          <a:lstStyle/>
          <a:p>
            <a:pPr algn="just"/>
            <a:r>
              <a:rPr lang="es-MX" dirty="0"/>
              <a:t>Se ha escrito mucho sobre la vestimenta de los ejecutivos y demás personal con algún grado de autoridad. El analista de sistemas puede darse una idea de la credibilidad de los gerentes de la organización al observar la vestimenta que usan en el trabajo. El traje de dos piezas para un hombre o el traje con falda para una mujer representan la máxima autoridad, de acuerdo con algunos investigadores que han estudiado las percepciones sobre la apariencia de los ejecutivos. El hecho de que los líderes vistan de manera casual tiende a abrir las puertas para una toma de decisiones más participativa, pero a menudo propicia la pérdida de credibilidad en la organización si la cultura predominante valora la ropa tradicional y conservadora.</a:t>
            </a:r>
          </a:p>
        </p:txBody>
      </p:sp>
    </p:spTree>
    <p:extLst>
      <p:ext uri="{BB962C8B-B14F-4D97-AF65-F5344CB8AC3E}">
        <p14:creationId xmlns:p14="http://schemas.microsoft.com/office/powerpoint/2010/main" val="967208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Aplicación del STROBE</a:t>
            </a:r>
          </a:p>
        </p:txBody>
      </p:sp>
      <p:sp>
        <p:nvSpPr>
          <p:cNvPr id="3" name="2 Rectángulo"/>
          <p:cNvSpPr/>
          <p:nvPr/>
        </p:nvSpPr>
        <p:spPr>
          <a:xfrm>
            <a:off x="467544" y="1556792"/>
            <a:ext cx="8075489" cy="2431435"/>
          </a:xfrm>
          <a:prstGeom prst="rect">
            <a:avLst/>
          </a:prstGeom>
        </p:spPr>
        <p:txBody>
          <a:bodyPr wrap="square">
            <a:spAutoFit/>
          </a:bodyPr>
          <a:lstStyle/>
          <a:p>
            <a:pPr algn="just"/>
            <a:r>
              <a:rPr lang="es-MX" sz="2000" dirty="0">
                <a:latin typeface="Times New Roman" panose="02020603050405020304" pitchFamily="18" charset="0"/>
                <a:cs typeface="Times New Roman" panose="02020603050405020304" pitchFamily="18" charset="0"/>
              </a:rPr>
              <a:t>Una forma de implementar el STROBE es mediante el uso de una lista de verificación anecdótica con símbolos taquigráficos. Este enfoque del STROBE fue útil para determinar los requerimientos de información de cuatro tomadores de decisiones importantes en una tienda de ropa.</a:t>
            </a:r>
          </a:p>
          <a:p>
            <a:pPr algn="just"/>
            <a:endParaRPr lang="es-MX" dirty="0"/>
          </a:p>
          <a:p>
            <a:pPr algn="just"/>
            <a:endParaRPr lang="es-MX" dirty="0"/>
          </a:p>
          <a:p>
            <a:pPr algn="just"/>
            <a:endParaRPr lang="es-MX" dirty="0"/>
          </a:p>
          <a:p>
            <a:pPr algn="just"/>
            <a:endParaRPr lang="es-MX" dirty="0"/>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489" t="15485" r="16610" b="18657"/>
          <a:stretch/>
        </p:blipFill>
        <p:spPr bwMode="auto">
          <a:xfrm>
            <a:off x="4860032" y="2924944"/>
            <a:ext cx="3869053" cy="3339306"/>
          </a:xfrm>
          <a:prstGeom prst="roundRect">
            <a:avLst>
              <a:gd name="adj" fmla="val 4167"/>
            </a:avLst>
          </a:prstGeom>
          <a:solidFill>
            <a:srgbClr val="FFFFFF"/>
          </a:solidFill>
          <a:ln w="9525">
            <a:solidFill>
              <a:schemeClr val="tx1"/>
            </a:solidFill>
            <a:miter lim="800000"/>
            <a:headEnd/>
            <a:tailEnd/>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3 Elipse"/>
          <p:cNvSpPr/>
          <p:nvPr/>
        </p:nvSpPr>
        <p:spPr>
          <a:xfrm>
            <a:off x="611560" y="3140968"/>
            <a:ext cx="3893728" cy="2520280"/>
          </a:xfrm>
          <a:prstGeom prst="ellipse">
            <a:avLst/>
          </a:prstGeom>
          <a:effectLst>
            <a:glow rad="101600">
              <a:schemeClr val="accent5">
                <a:satMod val="175000"/>
                <a:alpha val="40000"/>
              </a:schemeClr>
            </a:glow>
            <a:outerShdw blurRad="50800" dist="25400" dir="5400000" rotWithShape="0">
              <a:srgbClr val="000000">
                <a:alpha val="35000"/>
              </a:srgb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just"/>
            <a:r>
              <a:rPr lang="es-MX" b="1" dirty="0">
                <a:latin typeface="Times New Roman" panose="02020603050405020304" pitchFamily="18" charset="0"/>
                <a:cs typeface="Times New Roman" panose="02020603050405020304" pitchFamily="18" charset="0"/>
              </a:rPr>
              <a:t>Observe la oficina de un tomador de decisiones para darse una idea de la manera en que almacena, procesa y distribuye la información.</a:t>
            </a:r>
          </a:p>
        </p:txBody>
      </p:sp>
    </p:spTree>
    <p:extLst>
      <p:ext uri="{BB962C8B-B14F-4D97-AF65-F5344CB8AC3E}">
        <p14:creationId xmlns:p14="http://schemas.microsoft.com/office/powerpoint/2010/main" val="743576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Lista anecdótica para aplicar el STROBE</a:t>
            </a:r>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1853" t="13992" r="30561" b="6250"/>
          <a:stretch/>
        </p:blipFill>
        <p:spPr bwMode="auto">
          <a:xfrm>
            <a:off x="1567939" y="1412776"/>
            <a:ext cx="6264696" cy="487824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4160983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Elaboración de Prototipos</a:t>
            </a:r>
          </a:p>
        </p:txBody>
      </p:sp>
      <p:sp>
        <p:nvSpPr>
          <p:cNvPr id="3" name="Rectángulo 2"/>
          <p:cNvSpPr/>
          <p:nvPr/>
        </p:nvSpPr>
        <p:spPr>
          <a:xfrm>
            <a:off x="467544" y="1556792"/>
            <a:ext cx="8136904" cy="1323439"/>
          </a:xfrm>
          <a:prstGeom prst="rect">
            <a:avLst/>
          </a:prstGeom>
        </p:spPr>
        <p:txBody>
          <a:bodyPr wrap="square">
            <a:spAutoFit/>
          </a:bodyPr>
          <a:lstStyle/>
          <a:p>
            <a:pPr algn="just"/>
            <a:r>
              <a:rPr lang="es-ES_tradnl" sz="2000" dirty="0">
                <a:latin typeface="Times New Roman" panose="02020603050405020304" pitchFamily="18" charset="0"/>
                <a:cs typeface="Times New Roman" panose="02020603050405020304" pitchFamily="18" charset="0"/>
              </a:rPr>
              <a:t>La información recopilada en la fase de elaboración de prototipos permite al analista establecer las prioridades y cambiar el rumbo de los planes a bajo costo, con un mínimo de molestias. Debido a esta característica, la elaboración de prototipos y la planeación van de la mano.</a:t>
            </a:r>
            <a:endParaRPr lang="es-ES" sz="2000" dirty="0">
              <a:latin typeface="Times New Roman" panose="02020603050405020304" pitchFamily="18" charset="0"/>
              <a:cs typeface="Times New Roman" panose="02020603050405020304" pitchFamily="18" charset="0"/>
            </a:endParaRPr>
          </a:p>
        </p:txBody>
      </p:sp>
      <p:pic>
        <p:nvPicPr>
          <p:cNvPr id="10242" name="Picture 2" descr="http://www.infosertec.com.ar/blog/wp-content/uploads/110608-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501008"/>
            <a:ext cx="4762500" cy="2400301"/>
          </a:xfrm>
          <a:prstGeom prst="roundRect">
            <a:avLst>
              <a:gd name="adj" fmla="val 16667"/>
            </a:avLst>
          </a:prstGeom>
          <a:ln>
            <a:noFill/>
          </a:ln>
          <a:effectLst>
            <a:glow rad="228600">
              <a:schemeClr val="accent5">
                <a:satMod val="175000"/>
                <a:alpha val="40000"/>
              </a:schemeClr>
            </a:glow>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3830870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Clases de Prototipos</a:t>
            </a:r>
          </a:p>
        </p:txBody>
      </p:sp>
      <p:pic>
        <p:nvPicPr>
          <p:cNvPr id="3" name="Imagen 2"/>
          <p:cNvPicPr>
            <a:picLocks noChangeAspect="1"/>
          </p:cNvPicPr>
          <p:nvPr/>
        </p:nvPicPr>
        <p:blipFill>
          <a:blip r:embed="rId2"/>
          <a:stretch>
            <a:fillRect/>
          </a:stretch>
        </p:blipFill>
        <p:spPr>
          <a:xfrm>
            <a:off x="3995936" y="1916832"/>
            <a:ext cx="4608512" cy="4291740"/>
          </a:xfrm>
          <a:prstGeom prst="rect">
            <a:avLst/>
          </a:prstGeom>
        </p:spPr>
      </p:pic>
      <p:sp>
        <p:nvSpPr>
          <p:cNvPr id="4" name="Rectángulo 3"/>
          <p:cNvSpPr/>
          <p:nvPr/>
        </p:nvSpPr>
        <p:spPr>
          <a:xfrm>
            <a:off x="467544" y="1916832"/>
            <a:ext cx="4392488" cy="1938992"/>
          </a:xfrm>
          <a:prstGeom prst="rect">
            <a:avLst/>
          </a:prstGeom>
        </p:spPr>
        <p:txBody>
          <a:bodyPr wrap="square">
            <a:spAutoFit/>
          </a:bodyPr>
          <a:lstStyle/>
          <a:p>
            <a:pPr marL="285750" indent="-285750">
              <a:buFont typeface="Arial"/>
              <a:buChar char="•"/>
            </a:pPr>
            <a:r>
              <a:rPr lang="es-ES_tradnl" sz="2400" b="1" dirty="0">
                <a:latin typeface="Times New Roman"/>
                <a:cs typeface="Times New Roman"/>
              </a:rPr>
              <a:t>Prototipo Corregido</a:t>
            </a:r>
          </a:p>
          <a:p>
            <a:pPr marL="285750" indent="-285750">
              <a:buFont typeface="Arial"/>
              <a:buChar char="•"/>
            </a:pPr>
            <a:r>
              <a:rPr lang="es-ES_tradnl" sz="2400" b="1" dirty="0">
                <a:latin typeface="Times New Roman"/>
                <a:cs typeface="Times New Roman"/>
              </a:rPr>
              <a:t>Prototipo No Funcional</a:t>
            </a:r>
          </a:p>
          <a:p>
            <a:pPr marL="285750" indent="-285750">
              <a:buFont typeface="Arial"/>
              <a:buChar char="•"/>
            </a:pPr>
            <a:r>
              <a:rPr lang="es-ES_tradnl" sz="2400" b="1" dirty="0">
                <a:latin typeface="Times New Roman"/>
                <a:cs typeface="Times New Roman"/>
              </a:rPr>
              <a:t>Prototipo de una Serie</a:t>
            </a:r>
          </a:p>
          <a:p>
            <a:pPr marL="285750" indent="-285750">
              <a:buFont typeface="Arial"/>
              <a:buChar char="•"/>
            </a:pPr>
            <a:r>
              <a:rPr lang="es-ES_tradnl" sz="2400" b="1" dirty="0">
                <a:latin typeface="Times New Roman"/>
                <a:cs typeface="Times New Roman"/>
              </a:rPr>
              <a:t>Prototipo de Características  Seleccionadas</a:t>
            </a:r>
            <a:endParaRPr lang="es-ES" sz="2400" b="1" dirty="0">
              <a:latin typeface="Times New Roman"/>
              <a:cs typeface="Times New Roman"/>
            </a:endParaRPr>
          </a:p>
        </p:txBody>
      </p:sp>
    </p:spTree>
    <p:extLst>
      <p:ext uri="{BB962C8B-B14F-4D97-AF65-F5344CB8AC3E}">
        <p14:creationId xmlns:p14="http://schemas.microsoft.com/office/powerpoint/2010/main" val="3325708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Prototipo no funcional </a:t>
            </a:r>
          </a:p>
        </p:txBody>
      </p:sp>
      <p:sp>
        <p:nvSpPr>
          <p:cNvPr id="3" name="Rectángulo 2"/>
          <p:cNvSpPr/>
          <p:nvPr/>
        </p:nvSpPr>
        <p:spPr>
          <a:xfrm>
            <a:off x="395536" y="1484784"/>
            <a:ext cx="8208912" cy="2215991"/>
          </a:xfrm>
          <a:prstGeom prst="rect">
            <a:avLst/>
          </a:prstGeom>
        </p:spPr>
        <p:txBody>
          <a:bodyPr wrap="square">
            <a:spAutoFit/>
          </a:bodyPr>
          <a:lstStyle/>
          <a:p>
            <a:pPr algn="just"/>
            <a:r>
              <a:rPr lang="es-ES" dirty="0">
                <a:latin typeface="Times New Roman"/>
                <a:cs typeface="Times New Roman"/>
              </a:rPr>
              <a:t> </a:t>
            </a:r>
            <a:r>
              <a:rPr lang="es-ES_tradnl" sz="2000" dirty="0">
                <a:latin typeface="Times New Roman"/>
                <a:cs typeface="Times New Roman"/>
              </a:rPr>
              <a:t>El segundo tipo de prototipo es un modelo no funcional a escala configurado para probar ciertos aspectos del diseño. Un ejemplo de este enfoque es un modelo a escala completa  de un automóvil que se usa para pruebas en un túnel de vientos. El tamaño y forma del automóvil son precisos, pero el automóvil no es funcional. En este caso solo se incluyen las características del automóvil que son fundamentales para la prueba  </a:t>
            </a:r>
          </a:p>
          <a:p>
            <a:pPr algn="just"/>
            <a:endParaRPr lang="es-ES_tradnl" dirty="0"/>
          </a:p>
        </p:txBody>
      </p:sp>
      <p:pic>
        <p:nvPicPr>
          <p:cNvPr id="5" name="Imagen 4"/>
          <p:cNvPicPr>
            <a:picLocks noChangeAspect="1"/>
          </p:cNvPicPr>
          <p:nvPr/>
        </p:nvPicPr>
        <p:blipFill>
          <a:blip r:embed="rId2"/>
          <a:stretch>
            <a:fillRect/>
          </a:stretch>
        </p:blipFill>
        <p:spPr>
          <a:xfrm>
            <a:off x="1475656" y="3573016"/>
            <a:ext cx="6084168" cy="235001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874138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600" b="1" dirty="0">
                <a:latin typeface="Times New Roman"/>
                <a:cs typeface="Times New Roman"/>
              </a:rPr>
              <a:t>Prototipo de una Serie</a:t>
            </a:r>
            <a:endParaRPr lang="es-ES" dirty="0"/>
          </a:p>
        </p:txBody>
      </p:sp>
      <p:sp>
        <p:nvSpPr>
          <p:cNvPr id="3" name="Rectángulo 2"/>
          <p:cNvSpPr/>
          <p:nvPr/>
        </p:nvSpPr>
        <p:spPr>
          <a:xfrm>
            <a:off x="382125" y="1628801"/>
            <a:ext cx="8366339" cy="1938992"/>
          </a:xfrm>
          <a:prstGeom prst="rect">
            <a:avLst/>
          </a:prstGeom>
        </p:spPr>
        <p:txBody>
          <a:bodyPr wrap="square">
            <a:spAutoFit/>
          </a:bodyPr>
          <a:lstStyle/>
          <a:p>
            <a:pPr algn="just"/>
            <a:r>
              <a:rPr lang="es-ES_tradnl" sz="2000" dirty="0"/>
              <a:t>Primer prototipo de una serie Un tercer tipo de prototipos involucra la creación de un primer modelo a escala completa de un sistema, con frecuencia llamado piloto. Un ejemplo es la elaboración de un  prototipo del primer avión de una serie. El prototipo es completamente funcional y es una materialización  de lo que el diseñador espera será una serie de aviones con características idénticas. </a:t>
            </a:r>
          </a:p>
        </p:txBody>
      </p:sp>
      <p:pic>
        <p:nvPicPr>
          <p:cNvPr id="7" name="Imagen 6"/>
          <p:cNvPicPr>
            <a:picLocks noChangeAspect="1"/>
          </p:cNvPicPr>
          <p:nvPr/>
        </p:nvPicPr>
        <p:blipFill>
          <a:blip r:embed="rId2"/>
          <a:stretch>
            <a:fillRect/>
          </a:stretch>
        </p:blipFill>
        <p:spPr>
          <a:xfrm>
            <a:off x="2339752" y="3573016"/>
            <a:ext cx="4468024" cy="2664296"/>
          </a:xfrm>
          <a:prstGeom prst="rect">
            <a:avLst/>
          </a:prstGeom>
        </p:spPr>
      </p:pic>
    </p:spTree>
    <p:extLst>
      <p:ext uri="{BB962C8B-B14F-4D97-AF65-F5344CB8AC3E}">
        <p14:creationId xmlns:p14="http://schemas.microsoft.com/office/powerpoint/2010/main" val="2933402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600" b="1" dirty="0">
                <a:latin typeface="Times New Roman"/>
                <a:cs typeface="Times New Roman"/>
              </a:rPr>
              <a:t>Prototipo de una Serie</a:t>
            </a:r>
            <a:endParaRPr lang="es-ES" sz="3600" dirty="0"/>
          </a:p>
        </p:txBody>
      </p:sp>
      <p:sp>
        <p:nvSpPr>
          <p:cNvPr id="3" name="Rectángulo 2"/>
          <p:cNvSpPr/>
          <p:nvPr/>
        </p:nvSpPr>
        <p:spPr>
          <a:xfrm>
            <a:off x="5076056" y="1556792"/>
            <a:ext cx="3240360" cy="201622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s-ES_tradnl" dirty="0"/>
              <a:t>Este tipo de elaboración de prototipos es útil cuando se planean muchas instalaciones del sistema de información. </a:t>
            </a:r>
          </a:p>
        </p:txBody>
      </p:sp>
      <p:sp>
        <p:nvSpPr>
          <p:cNvPr id="4" name="Rectángulo 3"/>
          <p:cNvSpPr/>
          <p:nvPr/>
        </p:nvSpPr>
        <p:spPr>
          <a:xfrm>
            <a:off x="2411760" y="4221088"/>
            <a:ext cx="6336704" cy="194421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endParaRPr lang="es-ES_tradnl" dirty="0"/>
          </a:p>
          <a:p>
            <a:pPr algn="just"/>
            <a:r>
              <a:rPr lang="es-ES_tradnl" dirty="0"/>
              <a:t>El modelo funcional a escala completa permite a los usuarios experimentar la interacción real con el nuevo sistema, pero minimiza el costo de superar cualquier problema  que se presente. </a:t>
            </a:r>
            <a:endParaRPr lang="es-ES" dirty="0"/>
          </a:p>
          <a:p>
            <a:r>
              <a:rPr lang="es-ES" dirty="0"/>
              <a:t> </a:t>
            </a:r>
          </a:p>
        </p:txBody>
      </p:sp>
      <p:pic>
        <p:nvPicPr>
          <p:cNvPr id="11266" name="Picture 2" descr="http://2.bp.blogspot.com/-lQCxIDigeL4/UmGJpadP1gI/AAAAAAAAELQ/tY9I5am9vJk/s1600/PMPA+III+-+FADEA+-+Blog+0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407" y="1412776"/>
            <a:ext cx="3506705" cy="254855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5716885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1752" y="228600"/>
            <a:ext cx="8662736" cy="896144"/>
          </a:xfrm>
        </p:spPr>
        <p:txBody>
          <a:bodyPr>
            <a:noAutofit/>
          </a:bodyPr>
          <a:lstStyle/>
          <a:p>
            <a:r>
              <a:rPr lang="es-ES" sz="3200" b="1" dirty="0"/>
              <a:t> </a:t>
            </a:r>
            <a:br>
              <a:rPr lang="es-ES" sz="3200" dirty="0"/>
            </a:br>
            <a:r>
              <a:rPr lang="es-ES_tradnl" sz="3600" dirty="0"/>
              <a:t>Prototipo de características seleccionadas</a:t>
            </a:r>
            <a:endParaRPr lang="es-ES" sz="3600" dirty="0"/>
          </a:p>
        </p:txBody>
      </p:sp>
      <p:sp>
        <p:nvSpPr>
          <p:cNvPr id="4" name="Rectángulo 3"/>
          <p:cNvSpPr/>
          <p:nvPr/>
        </p:nvSpPr>
        <p:spPr>
          <a:xfrm>
            <a:off x="395536" y="1556792"/>
            <a:ext cx="8424936" cy="3785652"/>
          </a:xfrm>
          <a:prstGeom prst="rect">
            <a:avLst/>
          </a:prstGeom>
        </p:spPr>
        <p:txBody>
          <a:bodyPr wrap="square">
            <a:spAutoFit/>
          </a:bodyPr>
          <a:lstStyle/>
          <a:p>
            <a:pPr algn="just"/>
            <a:r>
              <a:rPr lang="es-ES" b="1" dirty="0"/>
              <a:t> </a:t>
            </a:r>
            <a:r>
              <a:rPr lang="es-ES_tradnl" sz="2000" dirty="0"/>
              <a:t>Una cuarta concepción de la elaboración de prototipos involucra la creación de un modelo funcional que incluya algunas, pero no todas, de las características que tendrá el sistema final. Una analogía seria que un nuevo centro comercial minorista abriera antes de que se terminara la construcción de todas las tiendas. </a:t>
            </a:r>
          </a:p>
          <a:p>
            <a:pPr algn="just"/>
            <a:endParaRPr lang="es-ES_tradnl" sz="2000" dirty="0"/>
          </a:p>
          <a:p>
            <a:pPr algn="just"/>
            <a:r>
              <a:rPr lang="es-ES_tradnl" sz="2000" dirty="0"/>
              <a:t>Cuando se elaboran prototipos de los sistemas de información de esta manera, se incluyen algunas de las car</a:t>
            </a:r>
            <a:r>
              <a:rPr lang="es-ES" sz="2000" dirty="0"/>
              <a:t>a</a:t>
            </a:r>
            <a:r>
              <a:rPr lang="es-ES_tradnl" sz="2000" dirty="0" err="1"/>
              <a:t>cterísticas</a:t>
            </a:r>
            <a:r>
              <a:rPr lang="es-ES_tradnl" sz="2000" dirty="0"/>
              <a:t>  principales, aunque no todas. Por ejemplo, en la pantalla podría aparecer un menú del sistema que  muestre seis características: agregar un registro (característica 1), eliminar un registro (car</a:t>
            </a:r>
            <a:r>
              <a:rPr lang="es-ES" sz="2000" dirty="0"/>
              <a:t>á</a:t>
            </a:r>
            <a:r>
              <a:rPr lang="es-ES_tradnl" sz="2000" dirty="0" err="1"/>
              <a:t>cterística</a:t>
            </a:r>
            <a:r>
              <a:rPr lang="es-ES_tradnl" sz="2000" dirty="0"/>
              <a:t> 3) y listar un registro (característica 5). </a:t>
            </a:r>
          </a:p>
        </p:txBody>
      </p:sp>
    </p:spTree>
    <p:extLst>
      <p:ext uri="{BB962C8B-B14F-4D97-AF65-F5344CB8AC3E}">
        <p14:creationId xmlns:p14="http://schemas.microsoft.com/office/powerpoint/2010/main" val="30173269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¿Cómo desarrollar un prototipo?</a:t>
            </a:r>
          </a:p>
        </p:txBody>
      </p:sp>
      <p:sp>
        <p:nvSpPr>
          <p:cNvPr id="3" name="Rectángulo 2"/>
          <p:cNvSpPr/>
          <p:nvPr/>
        </p:nvSpPr>
        <p:spPr>
          <a:xfrm>
            <a:off x="1115616" y="1700808"/>
            <a:ext cx="6624736" cy="707886"/>
          </a:xfrm>
          <a:prstGeom prst="rect">
            <a:avLst/>
          </a:prstGeom>
        </p:spPr>
        <p:txBody>
          <a:bodyPr wrap="square">
            <a:spAutoFit/>
          </a:bodyPr>
          <a:lstStyle/>
          <a:p>
            <a:pPr algn="just"/>
            <a:r>
              <a:rPr lang="es-ES_tradnl" sz="2000" dirty="0">
                <a:latin typeface="Times New Roman"/>
                <a:cs typeface="Times New Roman"/>
              </a:rPr>
              <a:t>Estimar los costos necesarios para la construcción de un módulo de sistema. </a:t>
            </a:r>
            <a:endParaRPr lang="es-ES" sz="2000" dirty="0">
              <a:latin typeface="Times New Roman"/>
              <a:cs typeface="Times New Roman"/>
            </a:endParaRPr>
          </a:p>
        </p:txBody>
      </p:sp>
      <p:pic>
        <p:nvPicPr>
          <p:cNvPr id="4" name="Imagen 3"/>
          <p:cNvPicPr>
            <a:picLocks noChangeAspect="1"/>
          </p:cNvPicPr>
          <p:nvPr/>
        </p:nvPicPr>
        <p:blipFill>
          <a:blip r:embed="rId2"/>
          <a:stretch>
            <a:fillRect/>
          </a:stretch>
        </p:blipFill>
        <p:spPr>
          <a:xfrm>
            <a:off x="683568" y="2996952"/>
            <a:ext cx="2540000" cy="2540000"/>
          </a:xfrm>
          <a:prstGeom prst="rect">
            <a:avLst/>
          </a:prstGeom>
        </p:spPr>
      </p:pic>
    </p:spTree>
    <p:extLst>
      <p:ext uri="{BB962C8B-B14F-4D97-AF65-F5344CB8AC3E}">
        <p14:creationId xmlns:p14="http://schemas.microsoft.com/office/powerpoint/2010/main" val="1911392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Lineamientos para desarrollar un Prototipo</a:t>
            </a:r>
          </a:p>
        </p:txBody>
      </p:sp>
      <p:pic>
        <p:nvPicPr>
          <p:cNvPr id="3" name="Imagen 2"/>
          <p:cNvPicPr>
            <a:picLocks noChangeAspect="1"/>
          </p:cNvPicPr>
          <p:nvPr/>
        </p:nvPicPr>
        <p:blipFill rotWithShape="1">
          <a:blip r:embed="rId2"/>
          <a:srcRect l="27384" t="30420" r="27384" b="11422"/>
          <a:stretch/>
        </p:blipFill>
        <p:spPr>
          <a:xfrm>
            <a:off x="2483768" y="1700808"/>
            <a:ext cx="4640741" cy="4479923"/>
          </a:xfrm>
          <a:prstGeom prst="rect">
            <a:avLst/>
          </a:prstGeom>
        </p:spPr>
      </p:pic>
    </p:spTree>
    <p:extLst>
      <p:ext uri="{BB962C8B-B14F-4D97-AF65-F5344CB8AC3E}">
        <p14:creationId xmlns:p14="http://schemas.microsoft.com/office/powerpoint/2010/main" val="577994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Bibliografía </a:t>
            </a:r>
          </a:p>
        </p:txBody>
      </p:sp>
      <p:sp>
        <p:nvSpPr>
          <p:cNvPr id="3" name="2 Rectángulo"/>
          <p:cNvSpPr/>
          <p:nvPr/>
        </p:nvSpPr>
        <p:spPr>
          <a:xfrm>
            <a:off x="615723" y="1700809"/>
            <a:ext cx="8136904" cy="646331"/>
          </a:xfrm>
          <a:prstGeom prst="rect">
            <a:avLst/>
          </a:prstGeom>
        </p:spPr>
        <p:txBody>
          <a:bodyPr wrap="square">
            <a:spAutoFit/>
          </a:bodyPr>
          <a:lstStyle/>
          <a:p>
            <a:pPr marL="285750" indent="-285750" algn="just">
              <a:buFont typeface="Arial" panose="020B0604020202020204" pitchFamily="34" charset="0"/>
              <a:buChar char="•"/>
            </a:pPr>
            <a:r>
              <a:rPr lang="es-ES_tradnl" b="1" dirty="0">
                <a:latin typeface="Times New Roman"/>
                <a:cs typeface="Times New Roman"/>
              </a:rPr>
              <a:t>KENDALL, KENNETH y KENDALL, JULIE. (2005) Análisis y Diseño de Sistemas. PEARSON EDUCACIÓN. México. </a:t>
            </a:r>
            <a:endParaRPr lang="es-ES" b="1" dirty="0">
              <a:latin typeface="Times New Roman"/>
              <a:cs typeface="Times New Roman"/>
            </a:endParaRPr>
          </a:p>
        </p:txBody>
      </p:sp>
    </p:spTree>
    <p:extLst>
      <p:ext uri="{BB962C8B-B14F-4D97-AF65-F5344CB8AC3E}">
        <p14:creationId xmlns:p14="http://schemas.microsoft.com/office/powerpoint/2010/main" val="332046266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607</TotalTime>
  <Words>5162</Words>
  <Application>Microsoft Macintosh PowerPoint</Application>
  <PresentationFormat>Presentación en pantalla (4:3)</PresentationFormat>
  <Paragraphs>328</Paragraphs>
  <Slides>58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58</vt:i4>
      </vt:variant>
    </vt:vector>
  </HeadingPairs>
  <TitlesOfParts>
    <vt:vector size="64" baseType="lpstr">
      <vt:lpstr>Arial</vt:lpstr>
      <vt:lpstr>Georgia</vt:lpstr>
      <vt:lpstr>Times New Roman</vt:lpstr>
      <vt:lpstr>Wingdings</vt:lpstr>
      <vt:lpstr>Wingdings 2</vt:lpstr>
      <vt:lpstr>Civil</vt:lpstr>
      <vt:lpstr>Técnicas de Recolección de Requisitos</vt:lpstr>
      <vt:lpstr>ENTREVISTA</vt:lpstr>
      <vt:lpstr>CINCO PASOS PARA PREPARAR UNA ENTREVISTA</vt:lpstr>
      <vt:lpstr>Presentación de PowerPoint</vt:lpstr>
      <vt:lpstr>TIPOS DE PREGUNTAS</vt:lpstr>
      <vt:lpstr> Preguntas Cerradas: Son aquellas donde las respuestas posibles se cierran al entrevistado, debido a que sólo se limita a contestar respuestas cortas como “ si”, “no”, alguna cantidad finita, etc.</vt:lpstr>
      <vt:lpstr>Las preguntas abiertas y cerradas tienen ventajas y desventajas</vt:lpstr>
      <vt:lpstr>CÓMO COLOCAR LAS PREGUNTAS EN UNA SECUENCIA LÓGICA</vt:lpstr>
      <vt:lpstr>Pirámides</vt:lpstr>
      <vt:lpstr>Presentación de PowerPoint</vt:lpstr>
      <vt:lpstr>CUESTIONARIO</vt:lpstr>
      <vt:lpstr>CUESTIONARIOS</vt:lpstr>
      <vt:lpstr>Presentación de PowerPoint</vt:lpstr>
      <vt:lpstr>Lenguaje de las preguntas del cuestionario</vt:lpstr>
      <vt:lpstr>USO DE ESCALAS EN LOS CUESTIONARIOS</vt:lpstr>
      <vt:lpstr>DISEÑO DE CUESTIONARIOS</vt:lpstr>
      <vt:lpstr>APLICACIÓN DE CUESTIONARIOS</vt:lpstr>
      <vt:lpstr>MÉTODOS PARA APLICAR EL CUESTIONARIO</vt:lpstr>
      <vt:lpstr>LA NECESIDAD DE MUESTREO</vt:lpstr>
      <vt:lpstr>Diseño del Muestreo</vt:lpstr>
      <vt:lpstr>Cómo determinar qué datos van a ser recopilados o descritos</vt:lpstr>
      <vt:lpstr>Cómo determinar de qué población se van a tomar muestras</vt:lpstr>
      <vt:lpstr>Cómo seleccionar el tipo de muestra</vt:lpstr>
      <vt:lpstr>Cómo seleccionar el tipo de muestra</vt:lpstr>
      <vt:lpstr>Cómo seleccionar el tipo de muestra</vt:lpstr>
      <vt:lpstr>Cómo seleccionar el tipo de muestra</vt:lpstr>
      <vt:lpstr>Cómo decidir el tamaño de la muestra</vt:lpstr>
      <vt:lpstr>Presentación de PowerPoint</vt:lpstr>
      <vt:lpstr>Ejemplo </vt:lpstr>
      <vt:lpstr>Ejemplo</vt:lpstr>
      <vt:lpstr>Cómo determinar el tamaño de la muestra al entrevistar </vt:lpstr>
      <vt:lpstr>Errores de muestreo y no muestreo</vt:lpstr>
      <vt:lpstr>Errores de muestreo y no muestreo</vt:lpstr>
      <vt:lpstr>Errores de muestreo y no muestreo</vt:lpstr>
      <vt:lpstr>Errores de muestreo y no muestreo</vt:lpstr>
      <vt:lpstr>Errores de muestreo y no muestreo</vt:lpstr>
      <vt:lpstr>Observación</vt:lpstr>
      <vt:lpstr>OBSERVACIÓN ESTRUCTURADA DEL ENTORNO (STROBE)</vt:lpstr>
      <vt:lpstr>Presentación de PowerPoint</vt:lpstr>
      <vt:lpstr>7 elementos que se deben observar en el STROBE y ejemplos de preguntas que se pueden realizar.</vt:lpstr>
      <vt:lpstr>Ubicación de la Oficina</vt:lpstr>
      <vt:lpstr>Colocación del escritorio</vt:lpstr>
      <vt:lpstr>Equipo fijo de oficina</vt:lpstr>
      <vt:lpstr>Accesorios</vt:lpstr>
      <vt:lpstr>Fuentes externas de Información</vt:lpstr>
      <vt:lpstr>Iluminación y color de la oficina</vt:lpstr>
      <vt:lpstr>Vestimenta de los tomadores de Decisiones</vt:lpstr>
      <vt:lpstr>Aplicación del STROBE</vt:lpstr>
      <vt:lpstr>Lista anecdótica para aplicar el STROBE</vt:lpstr>
      <vt:lpstr>Elaboración de Prototipos</vt:lpstr>
      <vt:lpstr>Clases de Prototipos</vt:lpstr>
      <vt:lpstr>Prototipo no funcional </vt:lpstr>
      <vt:lpstr>Prototipo de una Serie</vt:lpstr>
      <vt:lpstr>Prototipo de una Serie</vt:lpstr>
      <vt:lpstr>  Prototipo de características seleccionadas</vt:lpstr>
      <vt:lpstr>¿Cómo desarrollar un prototipo?</vt:lpstr>
      <vt:lpstr>Lineamientos para desarrollar un Prototipo</vt:lpstr>
      <vt:lpstr>Bibliografía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Técnicas de Recolección de Requisitos</dc:title>
  <dc:creator>ARELI</dc:creator>
  <cp:lastModifiedBy>Microsoft Office User</cp:lastModifiedBy>
  <cp:revision>50</cp:revision>
  <dcterms:created xsi:type="dcterms:W3CDTF">2014-03-19T01:58:54Z</dcterms:created>
  <dcterms:modified xsi:type="dcterms:W3CDTF">2022-02-21T15:53:44Z</dcterms:modified>
</cp:coreProperties>
</file>